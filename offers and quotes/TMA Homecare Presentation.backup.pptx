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ns" charset="1" panose="00000000000000000000"/>
      <p:regular r:id="rId20"/>
    </p:embeddedFont>
    <p:embeddedFont>
      <p:font typeface="Open Sans Medium" charset="1" panose="00000000000000000000"/>
      <p:regular r:id="rId21"/>
    </p:embeddedFont>
    <p:embeddedFont>
      <p:font typeface="Open Sans Bold" charset="1" panose="00000000000000000000"/>
      <p:regular r:id="rId22"/>
    </p:embeddedFont>
    <p:embeddedFont>
      <p:font typeface="Open Sans Semi-Bold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Relationship Id="rId6" Target="../media/image14.jpeg" Type="http://schemas.openxmlformats.org/officeDocument/2006/relationships/image"/><Relationship Id="rId7" Target="../media/image1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Relationship Id="rId6" Target="../media/image18.jpeg" Type="http://schemas.openxmlformats.org/officeDocument/2006/relationships/image"/><Relationship Id="rId7" Target="../media/image19.jpeg" Type="http://schemas.openxmlformats.org/officeDocument/2006/relationships/image"/><Relationship Id="rId8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16.jpe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26.jpe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13" Target="../media/image41.png" Type="http://schemas.openxmlformats.org/officeDocument/2006/relationships/image"/><Relationship Id="rId14" Target="../media/image42.png" Type="http://schemas.openxmlformats.org/officeDocument/2006/relationships/image"/><Relationship Id="rId15" Target="../media/image43.png" Type="http://schemas.openxmlformats.org/officeDocument/2006/relationships/image"/><Relationship Id="rId16" Target="../media/image44.png" Type="http://schemas.openxmlformats.org/officeDocument/2006/relationships/image"/><Relationship Id="rId17" Target="../media/image45.png" Type="http://schemas.openxmlformats.org/officeDocument/2006/relationships/image"/><Relationship Id="rId18" Target="../media/image46.png" Type="http://schemas.openxmlformats.org/officeDocument/2006/relationships/image"/><Relationship Id="rId19" Target="../media/image47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svg" Type="http://schemas.openxmlformats.org/officeDocument/2006/relationships/image"/><Relationship Id="rId11" Target="../media/image2.png" Type="http://schemas.openxmlformats.org/officeDocument/2006/relationships/image"/><Relationship Id="rId12" Target="../media/image3.svg" Type="http://schemas.openxmlformats.org/officeDocument/2006/relationships/image"/><Relationship Id="rId13" Target="../media/image58.png" Type="http://schemas.openxmlformats.org/officeDocument/2006/relationships/image"/><Relationship Id="rId14" Target="../media/image59.svg" Type="http://schemas.openxmlformats.org/officeDocument/2006/relationships/image"/><Relationship Id="rId15" Target="../media/image60.png" Type="http://schemas.openxmlformats.org/officeDocument/2006/relationships/image"/><Relationship Id="rId16" Target="../media/image61.svg" Type="http://schemas.openxmlformats.org/officeDocument/2006/relationships/image"/><Relationship Id="rId2" Target="../media/image49.jpe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media/image5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59351" y="-52646"/>
            <a:ext cx="13921948" cy="10339646"/>
          </a:xfrm>
          <a:custGeom>
            <a:avLst/>
            <a:gdLst/>
            <a:ahLst/>
            <a:cxnLst/>
            <a:rect r="r" b="b" t="t" l="l"/>
            <a:pathLst>
              <a:path h="10339646" w="13921948">
                <a:moveTo>
                  <a:pt x="0" y="0"/>
                </a:moveTo>
                <a:lnTo>
                  <a:pt x="13921948" y="0"/>
                </a:lnTo>
                <a:lnTo>
                  <a:pt x="13921948" y="10339646"/>
                </a:lnTo>
                <a:lnTo>
                  <a:pt x="0" y="10339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093" r="0" b="-1550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05018" y="-52646"/>
            <a:ext cx="12382982" cy="10392292"/>
            <a:chOff x="0" y="0"/>
            <a:chExt cx="3261361" cy="27370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61361" cy="2737065"/>
            </a:xfrm>
            <a:custGeom>
              <a:avLst/>
              <a:gdLst/>
              <a:ahLst/>
              <a:cxnLst/>
              <a:rect r="r" b="b" t="t" l="l"/>
              <a:pathLst>
                <a:path h="2737065" w="3261361">
                  <a:moveTo>
                    <a:pt x="0" y="0"/>
                  </a:moveTo>
                  <a:lnTo>
                    <a:pt x="3261361" y="0"/>
                  </a:lnTo>
                  <a:lnTo>
                    <a:pt x="3261361" y="2737065"/>
                  </a:lnTo>
                  <a:lnTo>
                    <a:pt x="0" y="2737065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3261361" cy="2813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61425" y="6367419"/>
            <a:ext cx="5781614" cy="109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762">
                <a:solidFill>
                  <a:srgbClr val="00386C"/>
                </a:solidFill>
                <a:latin typeface="Open Sans"/>
                <a:ea typeface="Open Sans"/>
                <a:cs typeface="Open Sans"/>
                <a:sym typeface="Open Sans"/>
              </a:rPr>
              <a:t>Integrated Telemedicine Solutions for Enhanced Healthcare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1425" y="3669865"/>
            <a:ext cx="8349844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8000" spc="456">
                <a:solidFill>
                  <a:srgbClr val="1C3B6A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HOMECARE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61425" y="1623076"/>
            <a:ext cx="5227149" cy="1111957"/>
          </a:xfrm>
          <a:custGeom>
            <a:avLst/>
            <a:gdLst/>
            <a:ahLst/>
            <a:cxnLst/>
            <a:rect r="r" b="b" t="t" l="l"/>
            <a:pathLst>
              <a:path h="1111957" w="5227149">
                <a:moveTo>
                  <a:pt x="0" y="0"/>
                </a:moveTo>
                <a:lnTo>
                  <a:pt x="5227149" y="0"/>
                </a:lnTo>
                <a:lnTo>
                  <a:pt x="5227149" y="1111957"/>
                </a:lnTo>
                <a:lnTo>
                  <a:pt x="0" y="1111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1425" y="4708091"/>
            <a:ext cx="5645632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D7192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Advanced Remote Patient Monitoring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7132" y="-413907"/>
            <a:ext cx="21403882" cy="20463435"/>
          </a:xfrm>
          <a:custGeom>
            <a:avLst/>
            <a:gdLst/>
            <a:ahLst/>
            <a:cxnLst/>
            <a:rect r="r" b="b" t="t" l="l"/>
            <a:pathLst>
              <a:path h="20463435" w="21403882">
                <a:moveTo>
                  <a:pt x="0" y="0"/>
                </a:moveTo>
                <a:lnTo>
                  <a:pt x="21403883" y="0"/>
                </a:lnTo>
                <a:lnTo>
                  <a:pt x="21403883" y="20463435"/>
                </a:lnTo>
                <a:lnTo>
                  <a:pt x="0" y="204634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19700"/>
            <a:ext cx="6172675" cy="11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9"/>
              </a:lnSpc>
            </a:pPr>
            <a:r>
              <a:rPr lang="en-US" sz="6399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Homecare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129622" y="1428015"/>
            <a:ext cx="4787744" cy="815406"/>
          </a:xfrm>
          <a:custGeom>
            <a:avLst/>
            <a:gdLst/>
            <a:ahLst/>
            <a:cxnLst/>
            <a:rect r="r" b="b" t="t" l="l"/>
            <a:pathLst>
              <a:path h="815406" w="4787744">
                <a:moveTo>
                  <a:pt x="0" y="0"/>
                </a:moveTo>
                <a:lnTo>
                  <a:pt x="4787745" y="0"/>
                </a:lnTo>
                <a:lnTo>
                  <a:pt x="4787745" y="815405"/>
                </a:lnTo>
                <a:lnTo>
                  <a:pt x="0" y="8154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79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2215" y="5277396"/>
            <a:ext cx="250587" cy="250587"/>
          </a:xfrm>
          <a:custGeom>
            <a:avLst/>
            <a:gdLst/>
            <a:ahLst/>
            <a:cxnLst/>
            <a:rect r="r" b="b" t="t" l="l"/>
            <a:pathLst>
              <a:path h="250587" w="250587">
                <a:moveTo>
                  <a:pt x="0" y="0"/>
                </a:moveTo>
                <a:lnTo>
                  <a:pt x="250587" y="0"/>
                </a:lnTo>
                <a:lnTo>
                  <a:pt x="250587" y="250587"/>
                </a:lnTo>
                <a:lnTo>
                  <a:pt x="0" y="2505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2215" y="6239742"/>
            <a:ext cx="250587" cy="250587"/>
          </a:xfrm>
          <a:custGeom>
            <a:avLst/>
            <a:gdLst/>
            <a:ahLst/>
            <a:cxnLst/>
            <a:rect r="r" b="b" t="t" l="l"/>
            <a:pathLst>
              <a:path h="250587" w="250587">
                <a:moveTo>
                  <a:pt x="0" y="0"/>
                </a:moveTo>
                <a:lnTo>
                  <a:pt x="250587" y="0"/>
                </a:lnTo>
                <a:lnTo>
                  <a:pt x="250587" y="250586"/>
                </a:lnTo>
                <a:lnTo>
                  <a:pt x="0" y="250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2215" y="7203672"/>
            <a:ext cx="250587" cy="250587"/>
          </a:xfrm>
          <a:custGeom>
            <a:avLst/>
            <a:gdLst/>
            <a:ahLst/>
            <a:cxnLst/>
            <a:rect r="r" b="b" t="t" l="l"/>
            <a:pathLst>
              <a:path h="250587" w="250587">
                <a:moveTo>
                  <a:pt x="0" y="0"/>
                </a:moveTo>
                <a:lnTo>
                  <a:pt x="250587" y="0"/>
                </a:lnTo>
                <a:lnTo>
                  <a:pt x="250587" y="250586"/>
                </a:lnTo>
                <a:lnTo>
                  <a:pt x="0" y="250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2215" y="8167602"/>
            <a:ext cx="250587" cy="250587"/>
          </a:xfrm>
          <a:custGeom>
            <a:avLst/>
            <a:gdLst/>
            <a:ahLst/>
            <a:cxnLst/>
            <a:rect r="r" b="b" t="t" l="l"/>
            <a:pathLst>
              <a:path h="250587" w="250587">
                <a:moveTo>
                  <a:pt x="0" y="0"/>
                </a:moveTo>
                <a:lnTo>
                  <a:pt x="250587" y="0"/>
                </a:lnTo>
                <a:lnTo>
                  <a:pt x="250587" y="250586"/>
                </a:lnTo>
                <a:lnTo>
                  <a:pt x="0" y="250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41648" y="986624"/>
            <a:ext cx="9366658" cy="8714895"/>
          </a:xfrm>
          <a:custGeom>
            <a:avLst/>
            <a:gdLst/>
            <a:ahLst/>
            <a:cxnLst/>
            <a:rect r="r" b="b" t="t" l="l"/>
            <a:pathLst>
              <a:path h="8714895" w="9366658">
                <a:moveTo>
                  <a:pt x="0" y="0"/>
                </a:moveTo>
                <a:lnTo>
                  <a:pt x="9366658" y="0"/>
                </a:lnTo>
                <a:lnTo>
                  <a:pt x="9366658" y="8714894"/>
                </a:lnTo>
                <a:lnTo>
                  <a:pt x="0" y="87148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82215" y="2629447"/>
            <a:ext cx="6441280" cy="2135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Homecare is a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comprehensive remote patient monitoring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telemedicine solution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designed to enhance healthcare accessibility and efficiency. By integrating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advanced medical devices, AI-driven monitoring, and real-time consultations,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it ensures patients receive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timely, proactive care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from anywhere.</a:t>
            </a:r>
          </a:p>
          <a:p>
            <a:pPr algn="l">
              <a:lnSpc>
                <a:spcPts val="28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83823"/>
            <a:ext cx="6172675" cy="43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400" spc="1015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What is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052" y="5248821"/>
            <a:ext cx="585573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Chronic disease patients 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who need continuous monitoring and medical support.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052" y="6211167"/>
            <a:ext cx="585573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Elderly individuals 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requiring real-time health tracking and emergency assistance.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8052" y="7175097"/>
            <a:ext cx="585573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Healthcare providers 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seeking seamless patient data access and remote consultation capabilities.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8052" y="8139027"/>
            <a:ext cx="585573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Caregivers &amp; families 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who want to ensure the safety and well-being of their loved ones.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4334" y="9560635"/>
            <a:ext cx="12268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www.tma.gr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9713035"/>
            <a:ext cx="280041" cy="0"/>
          </a:xfrm>
          <a:prstGeom prst="line">
            <a:avLst/>
          </a:prstGeom>
          <a:ln cap="flat" w="19050">
            <a:solidFill>
              <a:srgbClr val="D7202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8486" y="-634994"/>
            <a:ext cx="21403882" cy="20463435"/>
          </a:xfrm>
          <a:custGeom>
            <a:avLst/>
            <a:gdLst/>
            <a:ahLst/>
            <a:cxnLst/>
            <a:rect r="r" b="b" t="t" l="l"/>
            <a:pathLst>
              <a:path h="20463435" w="21403882">
                <a:moveTo>
                  <a:pt x="0" y="0"/>
                </a:moveTo>
                <a:lnTo>
                  <a:pt x="21403882" y="0"/>
                </a:lnTo>
                <a:lnTo>
                  <a:pt x="21403882" y="20463435"/>
                </a:lnTo>
                <a:lnTo>
                  <a:pt x="0" y="20463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3044" y="-41522"/>
            <a:ext cx="9227044" cy="5478648"/>
          </a:xfrm>
          <a:custGeom>
            <a:avLst/>
            <a:gdLst/>
            <a:ahLst/>
            <a:cxnLst/>
            <a:rect r="r" b="b" t="t" l="l"/>
            <a:pathLst>
              <a:path h="5478648" w="9227044">
                <a:moveTo>
                  <a:pt x="0" y="0"/>
                </a:moveTo>
                <a:lnTo>
                  <a:pt x="9227044" y="0"/>
                </a:lnTo>
                <a:lnTo>
                  <a:pt x="9227044" y="5478648"/>
                </a:lnTo>
                <a:lnTo>
                  <a:pt x="0" y="54786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</a:blip>
            <a:stretch>
              <a:fillRect l="0" t="-143" r="-1892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60912" y="5465220"/>
            <a:ext cx="9222482" cy="4872177"/>
          </a:xfrm>
          <a:custGeom>
            <a:avLst/>
            <a:gdLst/>
            <a:ahLst/>
            <a:cxnLst/>
            <a:rect r="r" b="b" t="t" l="l"/>
            <a:pathLst>
              <a:path h="4872177" w="9222482">
                <a:moveTo>
                  <a:pt x="0" y="0"/>
                </a:moveTo>
                <a:lnTo>
                  <a:pt x="9222483" y="0"/>
                </a:lnTo>
                <a:lnTo>
                  <a:pt x="9222483" y="4872176"/>
                </a:lnTo>
                <a:lnTo>
                  <a:pt x="0" y="48721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</a:blip>
            <a:stretch>
              <a:fillRect l="0" t="0" r="0" b="-944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4249" y="681483"/>
            <a:ext cx="4360063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00386C"/>
                </a:solidFill>
                <a:latin typeface="Open Sans"/>
                <a:ea typeface="Open Sans"/>
                <a:cs typeface="Open Sans"/>
                <a:sym typeface="Open Sans"/>
              </a:rPr>
              <a:t>How does it work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605400" y="1825247"/>
            <a:ext cx="2932646" cy="815406"/>
          </a:xfrm>
          <a:custGeom>
            <a:avLst/>
            <a:gdLst/>
            <a:ahLst/>
            <a:cxnLst/>
            <a:rect r="r" b="b" t="t" l="l"/>
            <a:pathLst>
              <a:path h="815406" w="2932646">
                <a:moveTo>
                  <a:pt x="0" y="0"/>
                </a:moveTo>
                <a:lnTo>
                  <a:pt x="2932646" y="0"/>
                </a:lnTo>
                <a:lnTo>
                  <a:pt x="2932646" y="815405"/>
                </a:lnTo>
                <a:lnTo>
                  <a:pt x="0" y="8154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2809" t="0" r="-3923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309744" y="1881633"/>
            <a:ext cx="6628225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Homecare combines portable medical devices, secure cloud-based health records, and AI-powered insights to provide a seamless healthcare experience. Patients can monitor their vital signs using homecare medical kits, smartwatches, and GPS-enabled tracking devices, with data instantly transmitted to ePokratis Health Cloud for analysis.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762955"/>
            <a:ext cx="6829241" cy="219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Doctors can access this data remotely, provide real-time guidance, issue e-prescriptions, and intervene immediately in case of emergencies. This reduces hospital visits, improves response times, and enhances patient care.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By making healthcare more accessible, preventive, and data-driven, Homecare is shaping the future of telemedicine and remote monitoring.</a:t>
            </a:r>
          </a:p>
          <a:p>
            <a:pPr algn="l">
              <a:lnSpc>
                <a:spcPts val="223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-1712727" y="4828338"/>
            <a:ext cx="2439520" cy="1448465"/>
            <a:chOff x="0" y="0"/>
            <a:chExt cx="812800" cy="4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82600"/>
            </a:xfrm>
            <a:custGeom>
              <a:avLst/>
              <a:gdLst/>
              <a:ahLst/>
              <a:cxnLst/>
              <a:rect r="r" b="b" t="t" l="l"/>
              <a:pathLst>
                <a:path h="4826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244475"/>
                  </a:lnTo>
                  <a:lnTo>
                    <a:pt x="574675" y="482600"/>
                  </a:lnTo>
                  <a:lnTo>
                    <a:pt x="238125" y="482600"/>
                  </a:lnTo>
                  <a:lnTo>
                    <a:pt x="0" y="2444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63500" y="34925"/>
              <a:ext cx="685800" cy="384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683343" y="4712894"/>
            <a:ext cx="2439520" cy="1448465"/>
            <a:chOff x="0" y="0"/>
            <a:chExt cx="812800" cy="482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82600"/>
            </a:xfrm>
            <a:custGeom>
              <a:avLst/>
              <a:gdLst/>
              <a:ahLst/>
              <a:cxnLst/>
              <a:rect r="r" b="b" t="t" l="l"/>
              <a:pathLst>
                <a:path h="4826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244475"/>
                  </a:lnTo>
                  <a:lnTo>
                    <a:pt x="574675" y="482600"/>
                  </a:lnTo>
                  <a:lnTo>
                    <a:pt x="238125" y="482600"/>
                  </a:lnTo>
                  <a:lnTo>
                    <a:pt x="0" y="2444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63500" y="34925"/>
              <a:ext cx="685800" cy="384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04334" y="9560635"/>
            <a:ext cx="12268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www.tma.gr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28700" y="9713035"/>
            <a:ext cx="280041" cy="0"/>
          </a:xfrm>
          <a:prstGeom prst="line">
            <a:avLst/>
          </a:prstGeom>
          <a:ln cap="flat" w="19050">
            <a:solidFill>
              <a:srgbClr val="D7202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8486" y="-634994"/>
            <a:ext cx="21403882" cy="20463435"/>
          </a:xfrm>
          <a:custGeom>
            <a:avLst/>
            <a:gdLst/>
            <a:ahLst/>
            <a:cxnLst/>
            <a:rect r="r" b="b" t="t" l="l"/>
            <a:pathLst>
              <a:path h="20463435" w="21403882">
                <a:moveTo>
                  <a:pt x="0" y="0"/>
                </a:moveTo>
                <a:lnTo>
                  <a:pt x="21403882" y="0"/>
                </a:lnTo>
                <a:lnTo>
                  <a:pt x="21403882" y="20463435"/>
                </a:lnTo>
                <a:lnTo>
                  <a:pt x="0" y="20463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0735" y="6629400"/>
            <a:ext cx="4546570" cy="3650254"/>
          </a:xfrm>
          <a:custGeom>
            <a:avLst/>
            <a:gdLst/>
            <a:ahLst/>
            <a:cxnLst/>
            <a:rect r="r" b="b" t="t" l="l"/>
            <a:pathLst>
              <a:path h="3650254" w="4546570">
                <a:moveTo>
                  <a:pt x="0" y="0"/>
                </a:moveTo>
                <a:lnTo>
                  <a:pt x="4546569" y="0"/>
                </a:lnTo>
                <a:lnTo>
                  <a:pt x="4546569" y="3650254"/>
                </a:lnTo>
                <a:lnTo>
                  <a:pt x="0" y="365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45" t="0" r="-1450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97112" y="6622054"/>
            <a:ext cx="4590888" cy="3657600"/>
          </a:xfrm>
          <a:custGeom>
            <a:avLst/>
            <a:gdLst/>
            <a:ahLst/>
            <a:cxnLst/>
            <a:rect r="r" b="b" t="t" l="l"/>
            <a:pathLst>
              <a:path h="3657600" w="4590888">
                <a:moveTo>
                  <a:pt x="0" y="0"/>
                </a:moveTo>
                <a:lnTo>
                  <a:pt x="4590888" y="0"/>
                </a:lnTo>
                <a:lnTo>
                  <a:pt x="4590888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931" t="0" r="-1481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21471" y="2973979"/>
            <a:ext cx="4568729" cy="3655421"/>
          </a:xfrm>
          <a:custGeom>
            <a:avLst/>
            <a:gdLst/>
            <a:ahLst/>
            <a:cxnLst/>
            <a:rect r="r" b="b" t="t" l="l"/>
            <a:pathLst>
              <a:path h="3655421" w="4568729">
                <a:moveTo>
                  <a:pt x="0" y="0"/>
                </a:moveTo>
                <a:lnTo>
                  <a:pt x="4568728" y="0"/>
                </a:lnTo>
                <a:lnTo>
                  <a:pt x="4568728" y="3655421"/>
                </a:lnTo>
                <a:lnTo>
                  <a:pt x="0" y="36554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293" t="0" r="-3650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052" y="2954643"/>
            <a:ext cx="4578787" cy="3674757"/>
          </a:xfrm>
          <a:custGeom>
            <a:avLst/>
            <a:gdLst/>
            <a:ahLst/>
            <a:cxnLst/>
            <a:rect r="r" b="b" t="t" l="l"/>
            <a:pathLst>
              <a:path h="3674757" w="4578787">
                <a:moveTo>
                  <a:pt x="0" y="0"/>
                </a:moveTo>
                <a:lnTo>
                  <a:pt x="4578787" y="0"/>
                </a:lnTo>
                <a:lnTo>
                  <a:pt x="4578787" y="3674757"/>
                </a:lnTo>
                <a:lnTo>
                  <a:pt x="0" y="36747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477" t="0" r="-11477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862282" y="9575198"/>
            <a:ext cx="1448465" cy="1448465"/>
            <a:chOff x="0" y="0"/>
            <a:chExt cx="482600" cy="482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244475" y="0"/>
                  </a:moveTo>
                  <a:lnTo>
                    <a:pt x="482600" y="238125"/>
                  </a:lnTo>
                  <a:lnTo>
                    <a:pt x="482600" y="244475"/>
                  </a:lnTo>
                  <a:lnTo>
                    <a:pt x="244475" y="482600"/>
                  </a:lnTo>
                  <a:lnTo>
                    <a:pt x="238125" y="482600"/>
                  </a:lnTo>
                  <a:lnTo>
                    <a:pt x="0" y="2444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444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63500" y="34925"/>
              <a:ext cx="355600" cy="384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1241218" y="3162666"/>
            <a:ext cx="865580" cy="0"/>
          </a:xfrm>
          <a:prstGeom prst="line">
            <a:avLst/>
          </a:prstGeom>
          <a:ln cap="flat" w="19050">
            <a:solidFill>
              <a:srgbClr val="D720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004529" y="2179790"/>
            <a:ext cx="1448465" cy="1448465"/>
            <a:chOff x="0" y="0"/>
            <a:chExt cx="482600" cy="482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244475" y="0"/>
                  </a:moveTo>
                  <a:lnTo>
                    <a:pt x="482600" y="238125"/>
                  </a:lnTo>
                  <a:lnTo>
                    <a:pt x="482600" y="244475"/>
                  </a:lnTo>
                  <a:lnTo>
                    <a:pt x="244475" y="482600"/>
                  </a:lnTo>
                  <a:lnTo>
                    <a:pt x="238125" y="482600"/>
                  </a:lnTo>
                  <a:lnTo>
                    <a:pt x="0" y="2444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444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63500" y="34925"/>
              <a:ext cx="355600" cy="384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95272" y="9762386"/>
            <a:ext cx="2439520" cy="1448465"/>
            <a:chOff x="0" y="0"/>
            <a:chExt cx="812800" cy="482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82600"/>
            </a:xfrm>
            <a:custGeom>
              <a:avLst/>
              <a:gdLst/>
              <a:ahLst/>
              <a:cxnLst/>
              <a:rect r="r" b="b" t="t" l="l"/>
              <a:pathLst>
                <a:path h="4826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244475"/>
                  </a:lnTo>
                  <a:lnTo>
                    <a:pt x="574675" y="482600"/>
                  </a:lnTo>
                  <a:lnTo>
                    <a:pt x="238125" y="482600"/>
                  </a:lnTo>
                  <a:lnTo>
                    <a:pt x="0" y="2444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63500" y="34925"/>
              <a:ext cx="685800" cy="384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92963" y="2230410"/>
            <a:ext cx="1448465" cy="1448465"/>
            <a:chOff x="0" y="0"/>
            <a:chExt cx="482600" cy="482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244475" y="0"/>
                  </a:moveTo>
                  <a:lnTo>
                    <a:pt x="482600" y="238125"/>
                  </a:lnTo>
                  <a:lnTo>
                    <a:pt x="482600" y="244475"/>
                  </a:lnTo>
                  <a:lnTo>
                    <a:pt x="244475" y="482600"/>
                  </a:lnTo>
                  <a:lnTo>
                    <a:pt x="238125" y="482600"/>
                  </a:lnTo>
                  <a:lnTo>
                    <a:pt x="0" y="2444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444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63500" y="34925"/>
              <a:ext cx="355600" cy="384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562453" y="4555564"/>
            <a:ext cx="3498820" cy="38100"/>
            <a:chOff x="0" y="0"/>
            <a:chExt cx="4665093" cy="50800"/>
          </a:xfrm>
        </p:grpSpPr>
        <p:sp>
          <p:nvSpPr>
            <p:cNvPr name="AutoShape 21" id="21"/>
            <p:cNvSpPr/>
            <p:nvPr/>
          </p:nvSpPr>
          <p:spPr>
            <a:xfrm flipH="true">
              <a:off x="0" y="12700"/>
              <a:ext cx="4665093" cy="0"/>
            </a:xfrm>
            <a:prstGeom prst="line">
              <a:avLst/>
            </a:prstGeom>
            <a:ln cap="flat" w="25400">
              <a:solidFill>
                <a:srgbClr val="D7202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 flipH="true">
              <a:off x="0" y="38100"/>
              <a:ext cx="4665093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69672" y="8190810"/>
            <a:ext cx="5540470" cy="38100"/>
            <a:chOff x="0" y="0"/>
            <a:chExt cx="7387294" cy="50800"/>
          </a:xfrm>
        </p:grpSpPr>
        <p:sp>
          <p:nvSpPr>
            <p:cNvPr name="AutoShape 24" id="24"/>
            <p:cNvSpPr/>
            <p:nvPr/>
          </p:nvSpPr>
          <p:spPr>
            <a:xfrm flipH="true">
              <a:off x="0" y="12700"/>
              <a:ext cx="7387294" cy="0"/>
            </a:xfrm>
            <a:prstGeom prst="line">
              <a:avLst/>
            </a:prstGeom>
            <a:ln cap="flat" w="25400">
              <a:solidFill>
                <a:srgbClr val="D7202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 flipH="true">
              <a:off x="0" y="38100"/>
              <a:ext cx="7387294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826932" y="8416427"/>
            <a:ext cx="4315004" cy="38100"/>
            <a:chOff x="0" y="0"/>
            <a:chExt cx="5753339" cy="50800"/>
          </a:xfrm>
        </p:grpSpPr>
        <p:sp>
          <p:nvSpPr>
            <p:cNvPr name="AutoShape 27" id="27"/>
            <p:cNvSpPr/>
            <p:nvPr/>
          </p:nvSpPr>
          <p:spPr>
            <a:xfrm flipH="true">
              <a:off x="0" y="12700"/>
              <a:ext cx="5753339" cy="0"/>
            </a:xfrm>
            <a:prstGeom prst="line">
              <a:avLst/>
            </a:prstGeom>
            <a:ln cap="flat" w="25400">
              <a:solidFill>
                <a:srgbClr val="D7202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 flipH="true">
              <a:off x="0" y="38100"/>
              <a:ext cx="5753339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884426" y="4186284"/>
            <a:ext cx="4315004" cy="38100"/>
            <a:chOff x="0" y="0"/>
            <a:chExt cx="5753339" cy="50800"/>
          </a:xfrm>
        </p:grpSpPr>
        <p:sp>
          <p:nvSpPr>
            <p:cNvPr name="AutoShape 30" id="30"/>
            <p:cNvSpPr/>
            <p:nvPr/>
          </p:nvSpPr>
          <p:spPr>
            <a:xfrm flipH="true">
              <a:off x="0" y="12700"/>
              <a:ext cx="5753339" cy="0"/>
            </a:xfrm>
            <a:prstGeom prst="line">
              <a:avLst/>
            </a:prstGeom>
            <a:ln cap="flat" w="25400">
              <a:solidFill>
                <a:srgbClr val="D7202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 flipH="true">
              <a:off x="0" y="38100"/>
              <a:ext cx="5753339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669672" y="7417380"/>
            <a:ext cx="3079024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73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Seamless communication with healthcare providers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024605" y="873571"/>
            <a:ext cx="10209982" cy="11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19"/>
              </a:lnSpc>
            </a:pPr>
            <a:r>
              <a:rPr lang="en-US" sz="6399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Benefits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141936" y="3377294"/>
            <a:ext cx="292432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73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Enhanced patient safety with GPS tracking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301428" y="3409180"/>
            <a:ext cx="3085184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73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Real-time health monitoring from anywhere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043258" y="622604"/>
            <a:ext cx="6172675" cy="43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2400" spc="1015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KEY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95475" y="7277100"/>
            <a:ext cx="2794326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73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Reduces hospital visits and improves patient outcomes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141936" y="4423165"/>
            <a:ext cx="3421797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Smartwatches and GPS-enabled devices ensure real-time location monitoring and emergency alerts.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311863" y="4790192"/>
            <a:ext cx="3241776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Continuous tracking of vital signs with instant updates to healthcare providers.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95475" y="8656955"/>
            <a:ext cx="3197488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Early detection of health issues enables timely intervention, minimizing hospitalizations.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50787" y="8360465"/>
            <a:ext cx="3241776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Video consultations, e-prescriptions, and remote medical advice at any time.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17754" y="-413907"/>
            <a:ext cx="21403882" cy="20463435"/>
          </a:xfrm>
          <a:custGeom>
            <a:avLst/>
            <a:gdLst/>
            <a:ahLst/>
            <a:cxnLst/>
            <a:rect r="r" b="b" t="t" l="l"/>
            <a:pathLst>
              <a:path h="20463435" w="21403882">
                <a:moveTo>
                  <a:pt x="0" y="0"/>
                </a:moveTo>
                <a:lnTo>
                  <a:pt x="21403882" y="0"/>
                </a:lnTo>
                <a:lnTo>
                  <a:pt x="21403882" y="20463435"/>
                </a:lnTo>
                <a:lnTo>
                  <a:pt x="0" y="20463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89470" y="494576"/>
            <a:ext cx="4541379" cy="4541379"/>
          </a:xfrm>
          <a:custGeom>
            <a:avLst/>
            <a:gdLst/>
            <a:ahLst/>
            <a:cxnLst/>
            <a:rect r="r" b="b" t="t" l="l"/>
            <a:pathLst>
              <a:path h="4541379" w="4541379">
                <a:moveTo>
                  <a:pt x="0" y="0"/>
                </a:moveTo>
                <a:lnTo>
                  <a:pt x="4541379" y="0"/>
                </a:lnTo>
                <a:lnTo>
                  <a:pt x="4541379" y="4541379"/>
                </a:lnTo>
                <a:lnTo>
                  <a:pt x="0" y="45413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136" t="0" r="-2513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89470" y="5340264"/>
            <a:ext cx="4541379" cy="4541379"/>
          </a:xfrm>
          <a:custGeom>
            <a:avLst/>
            <a:gdLst/>
            <a:ahLst/>
            <a:cxnLst/>
            <a:rect r="r" b="b" t="t" l="l"/>
            <a:pathLst>
              <a:path h="4541379" w="4541379">
                <a:moveTo>
                  <a:pt x="0" y="0"/>
                </a:moveTo>
                <a:lnTo>
                  <a:pt x="4541379" y="0"/>
                </a:lnTo>
                <a:lnTo>
                  <a:pt x="4541379" y="4541379"/>
                </a:lnTo>
                <a:lnTo>
                  <a:pt x="0" y="45413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757" t="0" r="-2575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32374" y="494576"/>
            <a:ext cx="4541379" cy="4541379"/>
          </a:xfrm>
          <a:custGeom>
            <a:avLst/>
            <a:gdLst/>
            <a:ahLst/>
            <a:cxnLst/>
            <a:rect r="r" b="b" t="t" l="l"/>
            <a:pathLst>
              <a:path h="4541379" w="4541379">
                <a:moveTo>
                  <a:pt x="0" y="0"/>
                </a:moveTo>
                <a:lnTo>
                  <a:pt x="4541378" y="0"/>
                </a:lnTo>
                <a:lnTo>
                  <a:pt x="4541378" y="4541379"/>
                </a:lnTo>
                <a:lnTo>
                  <a:pt x="0" y="45413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046" t="0" r="-2504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32374" y="5340264"/>
            <a:ext cx="4541379" cy="4541379"/>
          </a:xfrm>
          <a:custGeom>
            <a:avLst/>
            <a:gdLst/>
            <a:ahLst/>
            <a:cxnLst/>
            <a:rect r="r" b="b" t="t" l="l"/>
            <a:pathLst>
              <a:path h="4541379" w="4541379">
                <a:moveTo>
                  <a:pt x="0" y="0"/>
                </a:moveTo>
                <a:lnTo>
                  <a:pt x="4541378" y="0"/>
                </a:lnTo>
                <a:lnTo>
                  <a:pt x="4541378" y="4541379"/>
                </a:lnTo>
                <a:lnTo>
                  <a:pt x="0" y="45413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5425" t="0" r="-24147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489470" y="5340264"/>
            <a:ext cx="4541379" cy="4541379"/>
            <a:chOff x="0" y="0"/>
            <a:chExt cx="1093956" cy="10939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956" cy="1093956"/>
            </a:xfrm>
            <a:custGeom>
              <a:avLst/>
              <a:gdLst/>
              <a:ahLst/>
              <a:cxnLst/>
              <a:rect r="r" b="b" t="t" l="l"/>
              <a:pathLst>
                <a:path h="1093956" w="1093956">
                  <a:moveTo>
                    <a:pt x="20457" y="0"/>
                  </a:moveTo>
                  <a:lnTo>
                    <a:pt x="1073499" y="0"/>
                  </a:lnTo>
                  <a:cubicBezTo>
                    <a:pt x="1078924" y="0"/>
                    <a:pt x="1084128" y="2155"/>
                    <a:pt x="1087964" y="5992"/>
                  </a:cubicBezTo>
                  <a:cubicBezTo>
                    <a:pt x="1091801" y="9828"/>
                    <a:pt x="1093956" y="15031"/>
                    <a:pt x="1093956" y="20457"/>
                  </a:cubicBezTo>
                  <a:lnTo>
                    <a:pt x="1093956" y="1073499"/>
                  </a:lnTo>
                  <a:cubicBezTo>
                    <a:pt x="1093956" y="1078924"/>
                    <a:pt x="1091801" y="1084128"/>
                    <a:pt x="1087964" y="1087964"/>
                  </a:cubicBezTo>
                  <a:cubicBezTo>
                    <a:pt x="1084128" y="1091801"/>
                    <a:pt x="1078924" y="1093956"/>
                    <a:pt x="1073499" y="1093956"/>
                  </a:cubicBezTo>
                  <a:lnTo>
                    <a:pt x="20457" y="1093956"/>
                  </a:lnTo>
                  <a:cubicBezTo>
                    <a:pt x="15031" y="1093956"/>
                    <a:pt x="9828" y="1091801"/>
                    <a:pt x="5992" y="1087964"/>
                  </a:cubicBezTo>
                  <a:cubicBezTo>
                    <a:pt x="2155" y="1084128"/>
                    <a:pt x="0" y="1078924"/>
                    <a:pt x="0" y="1073499"/>
                  </a:cubicBezTo>
                  <a:lnTo>
                    <a:pt x="0" y="20457"/>
                  </a:lnTo>
                  <a:cubicBezTo>
                    <a:pt x="0" y="15031"/>
                    <a:pt x="2155" y="9828"/>
                    <a:pt x="5992" y="5992"/>
                  </a:cubicBezTo>
                  <a:cubicBezTo>
                    <a:pt x="9828" y="2155"/>
                    <a:pt x="15031" y="0"/>
                    <a:pt x="204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3B6A">
                    <a:alpha val="10000"/>
                  </a:srgbClr>
                </a:gs>
                <a:gs pos="50000">
                  <a:srgbClr val="1B3B6A">
                    <a:alpha val="92000"/>
                  </a:srgbClr>
                </a:gs>
                <a:gs pos="100000">
                  <a:srgbClr val="1B3B6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093956" cy="1189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89470" y="494576"/>
            <a:ext cx="4541379" cy="4541379"/>
            <a:chOff x="0" y="0"/>
            <a:chExt cx="1093956" cy="10939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3956" cy="1093956"/>
            </a:xfrm>
            <a:custGeom>
              <a:avLst/>
              <a:gdLst/>
              <a:ahLst/>
              <a:cxnLst/>
              <a:rect r="r" b="b" t="t" l="l"/>
              <a:pathLst>
                <a:path h="1093956" w="1093956">
                  <a:moveTo>
                    <a:pt x="20457" y="0"/>
                  </a:moveTo>
                  <a:lnTo>
                    <a:pt x="1073499" y="0"/>
                  </a:lnTo>
                  <a:cubicBezTo>
                    <a:pt x="1078924" y="0"/>
                    <a:pt x="1084128" y="2155"/>
                    <a:pt x="1087964" y="5992"/>
                  </a:cubicBezTo>
                  <a:cubicBezTo>
                    <a:pt x="1091801" y="9828"/>
                    <a:pt x="1093956" y="15031"/>
                    <a:pt x="1093956" y="20457"/>
                  </a:cubicBezTo>
                  <a:lnTo>
                    <a:pt x="1093956" y="1073499"/>
                  </a:lnTo>
                  <a:cubicBezTo>
                    <a:pt x="1093956" y="1078924"/>
                    <a:pt x="1091801" y="1084128"/>
                    <a:pt x="1087964" y="1087964"/>
                  </a:cubicBezTo>
                  <a:cubicBezTo>
                    <a:pt x="1084128" y="1091801"/>
                    <a:pt x="1078924" y="1093956"/>
                    <a:pt x="1073499" y="1093956"/>
                  </a:cubicBezTo>
                  <a:lnTo>
                    <a:pt x="20457" y="1093956"/>
                  </a:lnTo>
                  <a:cubicBezTo>
                    <a:pt x="15031" y="1093956"/>
                    <a:pt x="9828" y="1091801"/>
                    <a:pt x="5992" y="1087964"/>
                  </a:cubicBezTo>
                  <a:cubicBezTo>
                    <a:pt x="2155" y="1084128"/>
                    <a:pt x="0" y="1078924"/>
                    <a:pt x="0" y="1073499"/>
                  </a:cubicBezTo>
                  <a:lnTo>
                    <a:pt x="0" y="20457"/>
                  </a:lnTo>
                  <a:cubicBezTo>
                    <a:pt x="0" y="15031"/>
                    <a:pt x="2155" y="9828"/>
                    <a:pt x="5992" y="5992"/>
                  </a:cubicBezTo>
                  <a:cubicBezTo>
                    <a:pt x="9828" y="2155"/>
                    <a:pt x="15031" y="0"/>
                    <a:pt x="204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3B6A">
                    <a:alpha val="10000"/>
                  </a:srgbClr>
                </a:gs>
                <a:gs pos="50000">
                  <a:srgbClr val="1B3B6A">
                    <a:alpha val="92000"/>
                  </a:srgbClr>
                </a:gs>
                <a:gs pos="100000">
                  <a:srgbClr val="1B3B6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1093956" cy="1189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32374" y="494576"/>
            <a:ext cx="4541379" cy="4541379"/>
            <a:chOff x="0" y="0"/>
            <a:chExt cx="1093956" cy="10939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3956" cy="1093956"/>
            </a:xfrm>
            <a:custGeom>
              <a:avLst/>
              <a:gdLst/>
              <a:ahLst/>
              <a:cxnLst/>
              <a:rect r="r" b="b" t="t" l="l"/>
              <a:pathLst>
                <a:path h="1093956" w="1093956">
                  <a:moveTo>
                    <a:pt x="20457" y="0"/>
                  </a:moveTo>
                  <a:lnTo>
                    <a:pt x="1073499" y="0"/>
                  </a:lnTo>
                  <a:cubicBezTo>
                    <a:pt x="1078924" y="0"/>
                    <a:pt x="1084128" y="2155"/>
                    <a:pt x="1087964" y="5992"/>
                  </a:cubicBezTo>
                  <a:cubicBezTo>
                    <a:pt x="1091801" y="9828"/>
                    <a:pt x="1093956" y="15031"/>
                    <a:pt x="1093956" y="20457"/>
                  </a:cubicBezTo>
                  <a:lnTo>
                    <a:pt x="1093956" y="1073499"/>
                  </a:lnTo>
                  <a:cubicBezTo>
                    <a:pt x="1093956" y="1078924"/>
                    <a:pt x="1091801" y="1084128"/>
                    <a:pt x="1087964" y="1087964"/>
                  </a:cubicBezTo>
                  <a:cubicBezTo>
                    <a:pt x="1084128" y="1091801"/>
                    <a:pt x="1078924" y="1093956"/>
                    <a:pt x="1073499" y="1093956"/>
                  </a:cubicBezTo>
                  <a:lnTo>
                    <a:pt x="20457" y="1093956"/>
                  </a:lnTo>
                  <a:cubicBezTo>
                    <a:pt x="15031" y="1093956"/>
                    <a:pt x="9828" y="1091801"/>
                    <a:pt x="5992" y="1087964"/>
                  </a:cubicBezTo>
                  <a:cubicBezTo>
                    <a:pt x="2155" y="1084128"/>
                    <a:pt x="0" y="1078924"/>
                    <a:pt x="0" y="1073499"/>
                  </a:cubicBezTo>
                  <a:lnTo>
                    <a:pt x="0" y="20457"/>
                  </a:lnTo>
                  <a:cubicBezTo>
                    <a:pt x="0" y="15031"/>
                    <a:pt x="2155" y="9828"/>
                    <a:pt x="5992" y="5992"/>
                  </a:cubicBezTo>
                  <a:cubicBezTo>
                    <a:pt x="9828" y="2155"/>
                    <a:pt x="15031" y="0"/>
                    <a:pt x="204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3B6A">
                    <a:alpha val="10000"/>
                  </a:srgbClr>
                </a:gs>
                <a:gs pos="50000">
                  <a:srgbClr val="1B3B6A">
                    <a:alpha val="92000"/>
                  </a:srgbClr>
                </a:gs>
                <a:gs pos="100000">
                  <a:srgbClr val="1B3B6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1093956" cy="1189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32374" y="5340264"/>
            <a:ext cx="4541379" cy="4541379"/>
            <a:chOff x="0" y="0"/>
            <a:chExt cx="1093956" cy="10939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3956" cy="1093956"/>
            </a:xfrm>
            <a:custGeom>
              <a:avLst/>
              <a:gdLst/>
              <a:ahLst/>
              <a:cxnLst/>
              <a:rect r="r" b="b" t="t" l="l"/>
              <a:pathLst>
                <a:path h="1093956" w="1093956">
                  <a:moveTo>
                    <a:pt x="20457" y="0"/>
                  </a:moveTo>
                  <a:lnTo>
                    <a:pt x="1073499" y="0"/>
                  </a:lnTo>
                  <a:cubicBezTo>
                    <a:pt x="1078924" y="0"/>
                    <a:pt x="1084128" y="2155"/>
                    <a:pt x="1087964" y="5992"/>
                  </a:cubicBezTo>
                  <a:cubicBezTo>
                    <a:pt x="1091801" y="9828"/>
                    <a:pt x="1093956" y="15031"/>
                    <a:pt x="1093956" y="20457"/>
                  </a:cubicBezTo>
                  <a:lnTo>
                    <a:pt x="1093956" y="1073499"/>
                  </a:lnTo>
                  <a:cubicBezTo>
                    <a:pt x="1093956" y="1078924"/>
                    <a:pt x="1091801" y="1084128"/>
                    <a:pt x="1087964" y="1087964"/>
                  </a:cubicBezTo>
                  <a:cubicBezTo>
                    <a:pt x="1084128" y="1091801"/>
                    <a:pt x="1078924" y="1093956"/>
                    <a:pt x="1073499" y="1093956"/>
                  </a:cubicBezTo>
                  <a:lnTo>
                    <a:pt x="20457" y="1093956"/>
                  </a:lnTo>
                  <a:cubicBezTo>
                    <a:pt x="15031" y="1093956"/>
                    <a:pt x="9828" y="1091801"/>
                    <a:pt x="5992" y="1087964"/>
                  </a:cubicBezTo>
                  <a:cubicBezTo>
                    <a:pt x="2155" y="1084128"/>
                    <a:pt x="0" y="1078924"/>
                    <a:pt x="0" y="1073499"/>
                  </a:cubicBezTo>
                  <a:lnTo>
                    <a:pt x="0" y="20457"/>
                  </a:lnTo>
                  <a:cubicBezTo>
                    <a:pt x="0" y="15031"/>
                    <a:pt x="2155" y="9828"/>
                    <a:pt x="5992" y="5992"/>
                  </a:cubicBezTo>
                  <a:cubicBezTo>
                    <a:pt x="9828" y="2155"/>
                    <a:pt x="15031" y="0"/>
                    <a:pt x="204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3B6A">
                    <a:alpha val="10000"/>
                  </a:srgbClr>
                </a:gs>
                <a:gs pos="50000">
                  <a:srgbClr val="1B3B6A">
                    <a:alpha val="92000"/>
                  </a:srgbClr>
                </a:gs>
                <a:gs pos="100000">
                  <a:srgbClr val="1B3B6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1093956" cy="1189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938015" y="1940335"/>
            <a:ext cx="2447211" cy="815406"/>
          </a:xfrm>
          <a:custGeom>
            <a:avLst/>
            <a:gdLst/>
            <a:ahLst/>
            <a:cxnLst/>
            <a:rect r="r" b="b" t="t" l="l"/>
            <a:pathLst>
              <a:path h="815406" w="2447211">
                <a:moveTo>
                  <a:pt x="0" y="0"/>
                </a:moveTo>
                <a:lnTo>
                  <a:pt x="2447211" y="0"/>
                </a:lnTo>
                <a:lnTo>
                  <a:pt x="2447211" y="815406"/>
                </a:lnTo>
                <a:lnTo>
                  <a:pt x="0" y="8154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9972" t="0" r="-76193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80873" y="782083"/>
            <a:ext cx="6446547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>
                <a:solidFill>
                  <a:srgbClr val="00386C"/>
                </a:solidFill>
                <a:latin typeface="Open Sans"/>
                <a:ea typeface="Open Sans"/>
                <a:cs typeface="Open Sans"/>
                <a:sym typeface="Open Sans"/>
              </a:rPr>
              <a:t>Homecare Medical Case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31402" y="2451390"/>
            <a:ext cx="319498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Comprehensive Diagnostics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31402" y="2905248"/>
            <a:ext cx="2688473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Equipped with </a:t>
            </a:r>
            <a:r>
              <a:rPr lang="en-US" sz="1599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ECG, SPO2, blood pressure monitor, and digital stethoscope</a:t>
            </a: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 for real-time health assessments.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26117" y="3003840"/>
            <a:ext cx="288351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Portable &amp; Durable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26117" y="3457698"/>
            <a:ext cx="3407229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Designed for easy transport, with a </a:t>
            </a:r>
            <a:r>
              <a:rPr lang="en-US" sz="1599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rugged build</a:t>
            </a: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 for use in any environment.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58758" y="7915176"/>
            <a:ext cx="354194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Seamless Data Integration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58758" y="8300367"/>
            <a:ext cx="3407229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Connects with </a:t>
            </a:r>
            <a:r>
              <a:rPr lang="en-US" sz="1599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ePokratis Health Cloud,</a:t>
            </a: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 allowing instant data sharing and remote consultations.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21214" y="7915176"/>
            <a:ext cx="307789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User-Friendly Interface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21214" y="8300367"/>
            <a:ext cx="3077891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Simplifies </a:t>
            </a:r>
            <a:r>
              <a:rPr lang="en-US" sz="1599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health monitoring</a:t>
            </a: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 for both </a:t>
            </a:r>
            <a:r>
              <a:rPr lang="en-US" sz="1599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medical professionals and patients</a:t>
            </a:r>
            <a:r>
              <a:rPr lang="en-US" sz="1599">
                <a:solidFill>
                  <a:srgbClr val="D5D5D5"/>
                </a:solidFill>
                <a:latin typeface="Open Sans"/>
                <a:ea typeface="Open Sans"/>
                <a:cs typeface="Open Sans"/>
                <a:sym typeface="Open Sans"/>
              </a:rPr>
              <a:t> with minimal setup.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80873" y="3107814"/>
            <a:ext cx="6119161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The Homecare Medical Case is a rugged, portable telemedicine unit designed to provide comprehensive remote diagnostics. It is ideal for chronic care management, elderly health monitoring, and telemedicine consultations, ensuring timely medical intervention anytime, anywhere.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04334" y="9560635"/>
            <a:ext cx="12268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www.tma.gr</a:t>
            </a:r>
          </a:p>
        </p:txBody>
      </p:sp>
      <p:sp>
        <p:nvSpPr>
          <p:cNvPr name="AutoShape 31" id="31"/>
          <p:cNvSpPr/>
          <p:nvPr/>
        </p:nvSpPr>
        <p:spPr>
          <a:xfrm>
            <a:off x="1028700" y="9713035"/>
            <a:ext cx="280041" cy="0"/>
          </a:xfrm>
          <a:prstGeom prst="line">
            <a:avLst/>
          </a:prstGeom>
          <a:ln cap="flat" w="19050">
            <a:solidFill>
              <a:srgbClr val="D7202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17754" y="-413907"/>
            <a:ext cx="21403882" cy="20463435"/>
          </a:xfrm>
          <a:custGeom>
            <a:avLst/>
            <a:gdLst/>
            <a:ahLst/>
            <a:cxnLst/>
            <a:rect r="r" b="b" t="t" l="l"/>
            <a:pathLst>
              <a:path h="20463435" w="21403882">
                <a:moveTo>
                  <a:pt x="0" y="0"/>
                </a:moveTo>
                <a:lnTo>
                  <a:pt x="21403882" y="0"/>
                </a:lnTo>
                <a:lnTo>
                  <a:pt x="21403882" y="20463435"/>
                </a:lnTo>
                <a:lnTo>
                  <a:pt x="0" y="20463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9322"/>
            <a:ext cx="6172675" cy="43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400" spc="1015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ePokratis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540438" y="665562"/>
            <a:ext cx="4787744" cy="815406"/>
          </a:xfrm>
          <a:custGeom>
            <a:avLst/>
            <a:gdLst/>
            <a:ahLst/>
            <a:cxnLst/>
            <a:rect r="r" b="b" t="t" l="l"/>
            <a:pathLst>
              <a:path h="815406" w="4787744">
                <a:moveTo>
                  <a:pt x="0" y="0"/>
                </a:moveTo>
                <a:lnTo>
                  <a:pt x="4787744" y="0"/>
                </a:lnTo>
                <a:lnTo>
                  <a:pt x="4787744" y="815405"/>
                </a:lnTo>
                <a:lnTo>
                  <a:pt x="0" y="8154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79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16145" y="-132155"/>
            <a:ext cx="10329947" cy="10419155"/>
          </a:xfrm>
          <a:custGeom>
            <a:avLst/>
            <a:gdLst/>
            <a:ahLst/>
            <a:cxnLst/>
            <a:rect r="r" b="b" t="t" l="l"/>
            <a:pathLst>
              <a:path h="10419155" w="10329947">
                <a:moveTo>
                  <a:pt x="0" y="0"/>
                </a:moveTo>
                <a:lnTo>
                  <a:pt x="10329947" y="0"/>
                </a:lnTo>
                <a:lnTo>
                  <a:pt x="10329947" y="10419155"/>
                </a:lnTo>
                <a:lnTo>
                  <a:pt x="0" y="104191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759" t="0" r="-37811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5400000">
            <a:off x="10734295" y="-409426"/>
            <a:ext cx="1498638" cy="753990"/>
            <a:chOff x="0" y="0"/>
            <a:chExt cx="924633" cy="4651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4633" cy="465198"/>
            </a:xfrm>
            <a:custGeom>
              <a:avLst/>
              <a:gdLst/>
              <a:ahLst/>
              <a:cxnLst/>
              <a:rect r="r" b="b" t="t" l="l"/>
              <a:pathLst>
                <a:path h="465198" w="924633">
                  <a:moveTo>
                    <a:pt x="462316" y="0"/>
                  </a:moveTo>
                  <a:lnTo>
                    <a:pt x="924633" y="465198"/>
                  </a:lnTo>
                  <a:lnTo>
                    <a:pt x="0" y="465198"/>
                  </a:lnTo>
                  <a:lnTo>
                    <a:pt x="46231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44474" y="139785"/>
              <a:ext cx="635685" cy="292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59758" y="7057142"/>
            <a:ext cx="645795" cy="645795"/>
          </a:xfrm>
          <a:custGeom>
            <a:avLst/>
            <a:gdLst/>
            <a:ahLst/>
            <a:cxnLst/>
            <a:rect r="r" b="b" t="t" l="l"/>
            <a:pathLst>
              <a:path h="645795" w="645795">
                <a:moveTo>
                  <a:pt x="0" y="0"/>
                </a:moveTo>
                <a:lnTo>
                  <a:pt x="645795" y="0"/>
                </a:lnTo>
                <a:lnTo>
                  <a:pt x="645795" y="645795"/>
                </a:lnTo>
                <a:lnTo>
                  <a:pt x="0" y="6457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9758" y="8295461"/>
            <a:ext cx="645795" cy="645795"/>
          </a:xfrm>
          <a:custGeom>
            <a:avLst/>
            <a:gdLst/>
            <a:ahLst/>
            <a:cxnLst/>
            <a:rect r="r" b="b" t="t" l="l"/>
            <a:pathLst>
              <a:path h="645795" w="645795">
                <a:moveTo>
                  <a:pt x="0" y="0"/>
                </a:moveTo>
                <a:lnTo>
                  <a:pt x="645795" y="0"/>
                </a:lnTo>
                <a:lnTo>
                  <a:pt x="645795" y="645795"/>
                </a:lnTo>
                <a:lnTo>
                  <a:pt x="0" y="6457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9758" y="5699288"/>
            <a:ext cx="645795" cy="645795"/>
          </a:xfrm>
          <a:custGeom>
            <a:avLst/>
            <a:gdLst/>
            <a:ahLst/>
            <a:cxnLst/>
            <a:rect r="r" b="b" t="t" l="l"/>
            <a:pathLst>
              <a:path h="645795" w="645795">
                <a:moveTo>
                  <a:pt x="0" y="0"/>
                </a:moveTo>
                <a:lnTo>
                  <a:pt x="645795" y="0"/>
                </a:lnTo>
                <a:lnTo>
                  <a:pt x="645795" y="645795"/>
                </a:lnTo>
                <a:lnTo>
                  <a:pt x="0" y="6457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626919"/>
            <a:ext cx="8856217" cy="141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ePokratis Health Cloud 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is a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secure, cloud-based health management platform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that enables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real-time patient monitoring, teleconsultation, and seamless data sharing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between patients and healthcare providers. It enhances accessibility, ensuring medical professionals can deliver timely and informed care.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5483" y="5465926"/>
            <a:ext cx="674125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 b="true">
                <a:solidFill>
                  <a:srgbClr val="1C3B6B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24/7 Access to Personal Health Records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5483" y="6823779"/>
            <a:ext cx="674125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 b="true">
                <a:solidFill>
                  <a:srgbClr val="1C3B6B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AI-Powered Health Insights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85483" y="8061950"/>
            <a:ext cx="674125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 b="true">
                <a:solidFill>
                  <a:srgbClr val="1C3B6B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Telemedicine Video Calls &amp; Prescription Management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85483" y="5931390"/>
            <a:ext cx="647214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Patients and doctors can securely view and update medical history, lab results, and treatment plans.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85483" y="7289244"/>
            <a:ext cx="592198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Advanced analytics detect trends and provide early warnings for potential health risks.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85483" y="8527415"/>
            <a:ext cx="604269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Enables remote consultations, digital prescriptions, and direct communication with healthcare providers.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1075" y="1136969"/>
            <a:ext cx="9763595" cy="11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9"/>
              </a:lnSpc>
            </a:pPr>
            <a:r>
              <a:rPr lang="en-US" sz="6399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Health Cloud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588434"/>
            <a:ext cx="454876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1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Key Features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17754" y="-413907"/>
            <a:ext cx="21403882" cy="20463435"/>
          </a:xfrm>
          <a:custGeom>
            <a:avLst/>
            <a:gdLst/>
            <a:ahLst/>
            <a:cxnLst/>
            <a:rect r="r" b="b" t="t" l="l"/>
            <a:pathLst>
              <a:path h="20463435" w="21403882">
                <a:moveTo>
                  <a:pt x="0" y="0"/>
                </a:moveTo>
                <a:lnTo>
                  <a:pt x="21403882" y="0"/>
                </a:lnTo>
                <a:lnTo>
                  <a:pt x="21403882" y="20463435"/>
                </a:lnTo>
                <a:lnTo>
                  <a:pt x="0" y="20463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9322"/>
            <a:ext cx="6172675" cy="43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400" spc="1015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Solutions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580460" y="665562"/>
            <a:ext cx="4787744" cy="815406"/>
          </a:xfrm>
          <a:custGeom>
            <a:avLst/>
            <a:gdLst/>
            <a:ahLst/>
            <a:cxnLst/>
            <a:rect r="r" b="b" t="t" l="l"/>
            <a:pathLst>
              <a:path h="815406" w="4787744">
                <a:moveTo>
                  <a:pt x="0" y="0"/>
                </a:moveTo>
                <a:lnTo>
                  <a:pt x="4787744" y="0"/>
                </a:lnTo>
                <a:lnTo>
                  <a:pt x="4787744" y="815405"/>
                </a:lnTo>
                <a:lnTo>
                  <a:pt x="0" y="8154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79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50152" y="-132155"/>
            <a:ext cx="10095940" cy="10419155"/>
          </a:xfrm>
          <a:custGeom>
            <a:avLst/>
            <a:gdLst/>
            <a:ahLst/>
            <a:cxnLst/>
            <a:rect r="r" b="b" t="t" l="l"/>
            <a:pathLst>
              <a:path h="10419155" w="10095940">
                <a:moveTo>
                  <a:pt x="0" y="0"/>
                </a:moveTo>
                <a:lnTo>
                  <a:pt x="10095940" y="0"/>
                </a:lnTo>
                <a:lnTo>
                  <a:pt x="10095940" y="10419155"/>
                </a:lnTo>
                <a:lnTo>
                  <a:pt x="0" y="104191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915" t="0" r="-8169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5400000">
            <a:off x="10968302" y="-409426"/>
            <a:ext cx="1498638" cy="753990"/>
            <a:chOff x="0" y="0"/>
            <a:chExt cx="924633" cy="4651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4633" cy="465198"/>
            </a:xfrm>
            <a:custGeom>
              <a:avLst/>
              <a:gdLst/>
              <a:ahLst/>
              <a:cxnLst/>
              <a:rect r="r" b="b" t="t" l="l"/>
              <a:pathLst>
                <a:path h="465198" w="924633">
                  <a:moveTo>
                    <a:pt x="462316" y="0"/>
                  </a:moveTo>
                  <a:lnTo>
                    <a:pt x="924633" y="465198"/>
                  </a:lnTo>
                  <a:lnTo>
                    <a:pt x="0" y="465198"/>
                  </a:lnTo>
                  <a:lnTo>
                    <a:pt x="46231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44474" y="139785"/>
              <a:ext cx="635685" cy="292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59758" y="5699288"/>
            <a:ext cx="645795" cy="645795"/>
          </a:xfrm>
          <a:custGeom>
            <a:avLst/>
            <a:gdLst/>
            <a:ahLst/>
            <a:cxnLst/>
            <a:rect r="r" b="b" t="t" l="l"/>
            <a:pathLst>
              <a:path h="645795" w="645795">
                <a:moveTo>
                  <a:pt x="0" y="0"/>
                </a:moveTo>
                <a:lnTo>
                  <a:pt x="645795" y="0"/>
                </a:lnTo>
                <a:lnTo>
                  <a:pt x="645795" y="645795"/>
                </a:lnTo>
                <a:lnTo>
                  <a:pt x="0" y="6457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9758" y="7057290"/>
            <a:ext cx="645795" cy="645795"/>
          </a:xfrm>
          <a:custGeom>
            <a:avLst/>
            <a:gdLst/>
            <a:ahLst/>
            <a:cxnLst/>
            <a:rect r="r" b="b" t="t" l="l"/>
            <a:pathLst>
              <a:path h="645795" w="645795">
                <a:moveTo>
                  <a:pt x="0" y="0"/>
                </a:moveTo>
                <a:lnTo>
                  <a:pt x="645795" y="0"/>
                </a:lnTo>
                <a:lnTo>
                  <a:pt x="645795" y="645795"/>
                </a:lnTo>
                <a:lnTo>
                  <a:pt x="0" y="6457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9758" y="8295461"/>
            <a:ext cx="645795" cy="645795"/>
          </a:xfrm>
          <a:custGeom>
            <a:avLst/>
            <a:gdLst/>
            <a:ahLst/>
            <a:cxnLst/>
            <a:rect r="r" b="b" t="t" l="l"/>
            <a:pathLst>
              <a:path h="645795" w="645795">
                <a:moveTo>
                  <a:pt x="0" y="0"/>
                </a:moveTo>
                <a:lnTo>
                  <a:pt x="645795" y="0"/>
                </a:lnTo>
                <a:lnTo>
                  <a:pt x="645795" y="645795"/>
                </a:lnTo>
                <a:lnTo>
                  <a:pt x="0" y="6457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626919"/>
            <a:ext cx="7527517" cy="141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GPS Geofence Solutions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provide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advanced location tracking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using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smartwatches and Airtag-style devices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to ensure the safety of </a:t>
            </a:r>
            <a:r>
              <a:rPr lang="en-US" sz="16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elderly and at-risk individuals.</a:t>
            </a: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These solutions allow caregivers and healthcare providers to monitor movement, receive alerts, and respond quickly in emergencies.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5483" y="5465926"/>
            <a:ext cx="544369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 b="true">
                <a:solidFill>
                  <a:srgbClr val="1C3B6B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Real-Time Tracking &amp; Alerts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5483" y="6823779"/>
            <a:ext cx="544369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 b="true">
                <a:solidFill>
                  <a:srgbClr val="1C3B6B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Geofencing for Restricted Movement Areas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85483" y="8061950"/>
            <a:ext cx="544369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 b="true">
                <a:solidFill>
                  <a:srgbClr val="1C3B6B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SOS Emergency Button for Immediate Help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85483" y="5931390"/>
            <a:ext cx="525763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Instantly locates individuals and notifies caregivers of any unusual movement.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85483" y="7289244"/>
            <a:ext cx="525763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Set up safe zones and receive alerts if the user exits predefined locations.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85483" y="8527415"/>
            <a:ext cx="525763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One-touch SOS function alerts caregivers or emergency services instantly.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1075" y="1136969"/>
            <a:ext cx="9763595" cy="11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9"/>
              </a:lnSpc>
            </a:pPr>
            <a:r>
              <a:rPr lang="en-US" sz="6399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GPS Geofence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588434"/>
            <a:ext cx="454876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1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Key Features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8486" y="-634994"/>
            <a:ext cx="21403882" cy="20463435"/>
          </a:xfrm>
          <a:custGeom>
            <a:avLst/>
            <a:gdLst/>
            <a:ahLst/>
            <a:cxnLst/>
            <a:rect r="r" b="b" t="t" l="l"/>
            <a:pathLst>
              <a:path h="20463435" w="21403882">
                <a:moveTo>
                  <a:pt x="0" y="0"/>
                </a:moveTo>
                <a:lnTo>
                  <a:pt x="21403882" y="0"/>
                </a:lnTo>
                <a:lnTo>
                  <a:pt x="21403882" y="20463435"/>
                </a:lnTo>
                <a:lnTo>
                  <a:pt x="0" y="20463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81277" y="578313"/>
            <a:ext cx="3886826" cy="815406"/>
          </a:xfrm>
          <a:custGeom>
            <a:avLst/>
            <a:gdLst/>
            <a:ahLst/>
            <a:cxnLst/>
            <a:rect r="r" b="b" t="t" l="l"/>
            <a:pathLst>
              <a:path h="815406" w="3886826">
                <a:moveTo>
                  <a:pt x="0" y="0"/>
                </a:moveTo>
                <a:lnTo>
                  <a:pt x="3886825" y="0"/>
                </a:lnTo>
                <a:lnTo>
                  <a:pt x="3886825" y="815406"/>
                </a:lnTo>
                <a:lnTo>
                  <a:pt x="0" y="815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998" t="0" r="-13807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717435" y="2507638"/>
            <a:ext cx="1935345" cy="2291218"/>
            <a:chOff x="0" y="0"/>
            <a:chExt cx="812800" cy="9622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962258"/>
            </a:xfrm>
            <a:custGeom>
              <a:avLst/>
              <a:gdLst/>
              <a:ahLst/>
              <a:cxnLst/>
              <a:rect r="r" b="b" t="t" l="l"/>
              <a:pathLst>
                <a:path h="962258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8254"/>
                  </a:lnTo>
                  <a:cubicBezTo>
                    <a:pt x="812800" y="933603"/>
                    <a:pt x="784144" y="962258"/>
                    <a:pt x="748796" y="962258"/>
                  </a:cubicBezTo>
                  <a:lnTo>
                    <a:pt x="64004" y="962258"/>
                  </a:lnTo>
                  <a:cubicBezTo>
                    <a:pt x="28656" y="962258"/>
                    <a:pt x="0" y="933603"/>
                    <a:pt x="0" y="898254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1009883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01926" y="2507638"/>
            <a:ext cx="1935345" cy="2274336"/>
            <a:chOff x="0" y="0"/>
            <a:chExt cx="812800" cy="9551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955168"/>
            </a:xfrm>
            <a:custGeom>
              <a:avLst/>
              <a:gdLst/>
              <a:ahLst/>
              <a:cxnLst/>
              <a:rect r="r" b="b" t="t" l="l"/>
              <a:pathLst>
                <a:path h="955168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1164"/>
                  </a:lnTo>
                  <a:cubicBezTo>
                    <a:pt x="812800" y="908139"/>
                    <a:pt x="806057" y="924419"/>
                    <a:pt x="794054" y="936422"/>
                  </a:cubicBezTo>
                  <a:cubicBezTo>
                    <a:pt x="782050" y="948425"/>
                    <a:pt x="765771" y="955168"/>
                    <a:pt x="748796" y="955168"/>
                  </a:cubicBezTo>
                  <a:lnTo>
                    <a:pt x="64004" y="955168"/>
                  </a:lnTo>
                  <a:cubicBezTo>
                    <a:pt x="28656" y="955168"/>
                    <a:pt x="0" y="926513"/>
                    <a:pt x="0" y="891164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1002793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889639" y="2531450"/>
            <a:ext cx="1935345" cy="2250525"/>
            <a:chOff x="0" y="0"/>
            <a:chExt cx="812800" cy="9451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945168"/>
            </a:xfrm>
            <a:custGeom>
              <a:avLst/>
              <a:gdLst/>
              <a:ahLst/>
              <a:cxnLst/>
              <a:rect r="r" b="b" t="t" l="l"/>
              <a:pathLst>
                <a:path h="945168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81164"/>
                  </a:lnTo>
                  <a:cubicBezTo>
                    <a:pt x="812800" y="898139"/>
                    <a:pt x="806057" y="914418"/>
                    <a:pt x="794054" y="926422"/>
                  </a:cubicBezTo>
                  <a:cubicBezTo>
                    <a:pt x="782050" y="938425"/>
                    <a:pt x="765771" y="945168"/>
                    <a:pt x="748796" y="945168"/>
                  </a:cubicBezTo>
                  <a:lnTo>
                    <a:pt x="64004" y="945168"/>
                  </a:lnTo>
                  <a:cubicBezTo>
                    <a:pt x="28656" y="945168"/>
                    <a:pt x="0" y="916512"/>
                    <a:pt x="0" y="881164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12800" cy="992793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08175" y="2531450"/>
            <a:ext cx="1935345" cy="2250525"/>
            <a:chOff x="0" y="0"/>
            <a:chExt cx="812800" cy="9451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945168"/>
            </a:xfrm>
            <a:custGeom>
              <a:avLst/>
              <a:gdLst/>
              <a:ahLst/>
              <a:cxnLst/>
              <a:rect r="r" b="b" t="t" l="l"/>
              <a:pathLst>
                <a:path h="945168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81164"/>
                  </a:lnTo>
                  <a:cubicBezTo>
                    <a:pt x="812800" y="898139"/>
                    <a:pt x="806057" y="914418"/>
                    <a:pt x="794054" y="926422"/>
                  </a:cubicBezTo>
                  <a:cubicBezTo>
                    <a:pt x="782050" y="938425"/>
                    <a:pt x="765771" y="945168"/>
                    <a:pt x="748796" y="945168"/>
                  </a:cubicBezTo>
                  <a:lnTo>
                    <a:pt x="64004" y="945168"/>
                  </a:lnTo>
                  <a:cubicBezTo>
                    <a:pt x="28656" y="945168"/>
                    <a:pt x="0" y="916512"/>
                    <a:pt x="0" y="881164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12800" cy="992793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632757" y="5077316"/>
            <a:ext cx="1935345" cy="2288975"/>
            <a:chOff x="0" y="0"/>
            <a:chExt cx="812800" cy="9613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17435" y="5077316"/>
            <a:ext cx="1935345" cy="2288975"/>
            <a:chOff x="0" y="0"/>
            <a:chExt cx="812800" cy="9613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0876" y="5077316"/>
            <a:ext cx="1935345" cy="2288975"/>
            <a:chOff x="0" y="0"/>
            <a:chExt cx="812800" cy="9613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909633" y="5077316"/>
            <a:ext cx="1935345" cy="2288975"/>
            <a:chOff x="0" y="0"/>
            <a:chExt cx="812800" cy="9613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008175" y="5077316"/>
            <a:ext cx="1935345" cy="2288975"/>
            <a:chOff x="0" y="0"/>
            <a:chExt cx="812800" cy="9613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632757" y="2507638"/>
            <a:ext cx="1935345" cy="2291218"/>
            <a:chOff x="0" y="0"/>
            <a:chExt cx="812800" cy="9622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962258"/>
            </a:xfrm>
            <a:custGeom>
              <a:avLst/>
              <a:gdLst/>
              <a:ahLst/>
              <a:cxnLst/>
              <a:rect r="r" b="b" t="t" l="l"/>
              <a:pathLst>
                <a:path h="962258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8254"/>
                  </a:lnTo>
                  <a:cubicBezTo>
                    <a:pt x="812800" y="933603"/>
                    <a:pt x="784144" y="962258"/>
                    <a:pt x="748796" y="962258"/>
                  </a:cubicBezTo>
                  <a:lnTo>
                    <a:pt x="64004" y="962258"/>
                  </a:lnTo>
                  <a:cubicBezTo>
                    <a:pt x="28656" y="962258"/>
                    <a:pt x="0" y="933603"/>
                    <a:pt x="0" y="898254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812800" cy="1009883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7970116" y="2863301"/>
            <a:ext cx="1260626" cy="1676365"/>
          </a:xfrm>
          <a:custGeom>
            <a:avLst/>
            <a:gdLst/>
            <a:ahLst/>
            <a:cxnLst/>
            <a:rect r="r" b="b" t="t" l="l"/>
            <a:pathLst>
              <a:path h="1676365" w="1260626">
                <a:moveTo>
                  <a:pt x="0" y="0"/>
                </a:moveTo>
                <a:lnTo>
                  <a:pt x="1260627" y="0"/>
                </a:lnTo>
                <a:lnTo>
                  <a:pt x="1260627" y="1676365"/>
                </a:lnTo>
                <a:lnTo>
                  <a:pt x="0" y="1676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70" t="0" r="-307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7736967" y="2620021"/>
            <a:ext cx="328821" cy="3288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38995" y="2619031"/>
            <a:ext cx="328821" cy="32882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918863" y="2618018"/>
            <a:ext cx="328821" cy="3288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006576" y="2618018"/>
            <a:ext cx="328821" cy="32882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125113" y="2618018"/>
            <a:ext cx="328821" cy="32882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736967" y="5182465"/>
            <a:ext cx="328821" cy="32882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21644" y="5182465"/>
            <a:ext cx="328821" cy="3288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904036" y="5182465"/>
            <a:ext cx="328821" cy="32882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993849" y="5182465"/>
            <a:ext cx="328821" cy="328821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112385" y="5182465"/>
            <a:ext cx="328821" cy="328821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421939" y="2577173"/>
            <a:ext cx="4077218" cy="707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Fingertip Pulse Oximeter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Non-Contact Forehead Thermometer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Portable ECG Monitor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Digital Weight Scale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Multi Parameter Meter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Blood Pressure Monitor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Glucose Strip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Lactose Strip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Uric Acid Strip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Cholesterol Strip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B Ketone Strip 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Digital Stethoscope 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Troponine Meter 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Smart Watch </a:t>
            </a:r>
          </a:p>
          <a:p>
            <a:pPr algn="l">
              <a:lnSpc>
                <a:spcPts val="3750"/>
              </a:lnSpc>
            </a:pPr>
            <a:r>
              <a:rPr lang="en-US" sz="1500" b="true">
                <a:solidFill>
                  <a:srgbClr val="00386C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Smart Ring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33450" y="2758148"/>
            <a:ext cx="314905" cy="260962"/>
            <a:chOff x="0" y="0"/>
            <a:chExt cx="419873" cy="347949"/>
          </a:xfrm>
        </p:grpSpPr>
        <p:grpSp>
          <p:nvGrpSpPr>
            <p:cNvPr name="Group 67" id="6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70" id="70"/>
            <p:cNvSpPr txBox="true"/>
            <p:nvPr/>
          </p:nvSpPr>
          <p:spPr>
            <a:xfrm rot="0">
              <a:off x="0" y="49175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33450" y="3231514"/>
            <a:ext cx="314905" cy="260962"/>
            <a:chOff x="0" y="0"/>
            <a:chExt cx="419873" cy="347949"/>
          </a:xfrm>
        </p:grpSpPr>
        <p:grpSp>
          <p:nvGrpSpPr>
            <p:cNvPr name="Group 72" id="72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75" id="75"/>
            <p:cNvSpPr txBox="true"/>
            <p:nvPr/>
          </p:nvSpPr>
          <p:spPr>
            <a:xfrm rot="0">
              <a:off x="0" y="56061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33450" y="3704880"/>
            <a:ext cx="314905" cy="260962"/>
            <a:chOff x="0" y="0"/>
            <a:chExt cx="419873" cy="347949"/>
          </a:xfrm>
        </p:grpSpPr>
        <p:grpSp>
          <p:nvGrpSpPr>
            <p:cNvPr name="Group 77" id="7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80" id="80"/>
            <p:cNvSpPr txBox="true"/>
            <p:nvPr/>
          </p:nvSpPr>
          <p:spPr>
            <a:xfrm rot="0">
              <a:off x="0" y="56061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33450" y="4178246"/>
            <a:ext cx="314905" cy="260962"/>
            <a:chOff x="0" y="0"/>
            <a:chExt cx="419873" cy="347949"/>
          </a:xfrm>
        </p:grpSpPr>
        <p:grpSp>
          <p:nvGrpSpPr>
            <p:cNvPr name="Group 82" id="82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85" id="85"/>
            <p:cNvSpPr txBox="true"/>
            <p:nvPr/>
          </p:nvSpPr>
          <p:spPr>
            <a:xfrm rot="0">
              <a:off x="0" y="56061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3450" y="4651612"/>
            <a:ext cx="314905" cy="260962"/>
            <a:chOff x="0" y="0"/>
            <a:chExt cx="419873" cy="347949"/>
          </a:xfrm>
        </p:grpSpPr>
        <p:grpSp>
          <p:nvGrpSpPr>
            <p:cNvPr name="Group 87" id="8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90" id="90"/>
            <p:cNvSpPr txBox="true"/>
            <p:nvPr/>
          </p:nvSpPr>
          <p:spPr>
            <a:xfrm rot="0">
              <a:off x="0" y="53975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33450" y="5124979"/>
            <a:ext cx="314905" cy="260962"/>
            <a:chOff x="0" y="0"/>
            <a:chExt cx="419873" cy="347949"/>
          </a:xfrm>
        </p:grpSpPr>
        <p:grpSp>
          <p:nvGrpSpPr>
            <p:cNvPr name="Group 92" id="92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95" id="95"/>
            <p:cNvSpPr txBox="true"/>
            <p:nvPr/>
          </p:nvSpPr>
          <p:spPr>
            <a:xfrm rot="0">
              <a:off x="0" y="49321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33450" y="5617112"/>
            <a:ext cx="314905" cy="260962"/>
            <a:chOff x="0" y="0"/>
            <a:chExt cx="419873" cy="347949"/>
          </a:xfrm>
        </p:grpSpPr>
        <p:grpSp>
          <p:nvGrpSpPr>
            <p:cNvPr name="Group 97" id="9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00" id="100"/>
            <p:cNvSpPr txBox="true"/>
            <p:nvPr/>
          </p:nvSpPr>
          <p:spPr>
            <a:xfrm rot="0">
              <a:off x="0" y="56061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33450" y="6089083"/>
            <a:ext cx="314905" cy="260962"/>
            <a:chOff x="0" y="0"/>
            <a:chExt cx="419873" cy="347949"/>
          </a:xfrm>
        </p:grpSpPr>
        <p:grpSp>
          <p:nvGrpSpPr>
            <p:cNvPr name="Group 102" id="102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04" id="104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05" id="105"/>
            <p:cNvSpPr txBox="true"/>
            <p:nvPr/>
          </p:nvSpPr>
          <p:spPr>
            <a:xfrm rot="0">
              <a:off x="0" y="53975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33450" y="6561055"/>
            <a:ext cx="314905" cy="260962"/>
            <a:chOff x="0" y="0"/>
            <a:chExt cx="419873" cy="347949"/>
          </a:xfrm>
        </p:grpSpPr>
        <p:grpSp>
          <p:nvGrpSpPr>
            <p:cNvPr name="Group 107" id="10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09" id="10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10" id="110"/>
            <p:cNvSpPr txBox="true"/>
            <p:nvPr/>
          </p:nvSpPr>
          <p:spPr>
            <a:xfrm rot="0">
              <a:off x="0" y="53975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 spc="2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9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33450" y="7033027"/>
            <a:ext cx="314905" cy="260962"/>
            <a:chOff x="0" y="0"/>
            <a:chExt cx="419873" cy="347949"/>
          </a:xfrm>
        </p:grpSpPr>
        <p:grpSp>
          <p:nvGrpSpPr>
            <p:cNvPr name="Group 112" id="112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15" id="115"/>
            <p:cNvSpPr txBox="true"/>
            <p:nvPr/>
          </p:nvSpPr>
          <p:spPr>
            <a:xfrm rot="0">
              <a:off x="0" y="51936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33450" y="7504999"/>
            <a:ext cx="314905" cy="260962"/>
            <a:chOff x="0" y="0"/>
            <a:chExt cx="419873" cy="347949"/>
          </a:xfrm>
        </p:grpSpPr>
        <p:grpSp>
          <p:nvGrpSpPr>
            <p:cNvPr name="Group 117" id="11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19" id="11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20" id="120"/>
            <p:cNvSpPr txBox="true"/>
            <p:nvPr/>
          </p:nvSpPr>
          <p:spPr>
            <a:xfrm rot="0">
              <a:off x="0" y="54792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33450" y="8017456"/>
            <a:ext cx="314905" cy="260962"/>
            <a:chOff x="0" y="0"/>
            <a:chExt cx="419873" cy="347949"/>
          </a:xfrm>
        </p:grpSpPr>
        <p:grpSp>
          <p:nvGrpSpPr>
            <p:cNvPr name="Group 122" id="122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24" id="124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25" id="125"/>
            <p:cNvSpPr txBox="true"/>
            <p:nvPr/>
          </p:nvSpPr>
          <p:spPr>
            <a:xfrm rot="0">
              <a:off x="0" y="54792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12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33450" y="8487968"/>
            <a:ext cx="314905" cy="260962"/>
            <a:chOff x="0" y="0"/>
            <a:chExt cx="419873" cy="347949"/>
          </a:xfrm>
        </p:grpSpPr>
        <p:grpSp>
          <p:nvGrpSpPr>
            <p:cNvPr name="Group 127" id="12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30" id="130"/>
            <p:cNvSpPr txBox="true"/>
            <p:nvPr/>
          </p:nvSpPr>
          <p:spPr>
            <a:xfrm rot="0">
              <a:off x="0" y="54792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13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33450" y="8996580"/>
            <a:ext cx="314905" cy="260962"/>
            <a:chOff x="0" y="0"/>
            <a:chExt cx="419873" cy="347949"/>
          </a:xfrm>
        </p:grpSpPr>
        <p:grpSp>
          <p:nvGrpSpPr>
            <p:cNvPr name="Group 132" id="132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34" id="134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35" id="135"/>
            <p:cNvSpPr txBox="true"/>
            <p:nvPr/>
          </p:nvSpPr>
          <p:spPr>
            <a:xfrm rot="0">
              <a:off x="0" y="54792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14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933450" y="9468704"/>
            <a:ext cx="314905" cy="260962"/>
            <a:chOff x="0" y="0"/>
            <a:chExt cx="419873" cy="347949"/>
          </a:xfrm>
        </p:grpSpPr>
        <p:grpSp>
          <p:nvGrpSpPr>
            <p:cNvPr name="Group 137" id="137"/>
            <p:cNvGrpSpPr/>
            <p:nvPr/>
          </p:nvGrpSpPr>
          <p:grpSpPr>
            <a:xfrm rot="0">
              <a:off x="35962" y="0"/>
              <a:ext cx="347949" cy="347949"/>
              <a:chOff x="0" y="0"/>
              <a:chExt cx="812800" cy="812800"/>
            </a:xfrm>
          </p:grpSpPr>
          <p:sp>
            <p:nvSpPr>
              <p:cNvPr name="Freeform 138" id="1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1F26"/>
              </a:solidFill>
            </p:spPr>
          </p:sp>
          <p:sp>
            <p:nvSpPr>
              <p:cNvPr name="TextBox 139" id="139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5766" lIns="55766" bIns="55766" rIns="55766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name="TextBox 140" id="140"/>
            <p:cNvSpPr txBox="true"/>
            <p:nvPr/>
          </p:nvSpPr>
          <p:spPr>
            <a:xfrm rot="0">
              <a:off x="0" y="54792"/>
              <a:ext cx="419873" cy="21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4"/>
                </a:lnSpc>
                <a:spcBef>
                  <a:spcPct val="0"/>
                </a:spcBef>
              </a:pPr>
              <a:r>
                <a:rPr lang="en-US" b="true" sz="10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15</a:t>
              </a:r>
            </a:p>
          </p:txBody>
        </p:sp>
      </p:grpSp>
      <p:sp>
        <p:nvSpPr>
          <p:cNvPr name="AutoShape 141" id="141"/>
          <p:cNvSpPr/>
          <p:nvPr/>
        </p:nvSpPr>
        <p:spPr>
          <a:xfrm>
            <a:off x="959982" y="3115458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2" id="142"/>
          <p:cNvSpPr/>
          <p:nvPr/>
        </p:nvSpPr>
        <p:spPr>
          <a:xfrm>
            <a:off x="959982" y="5024966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3" id="143"/>
          <p:cNvSpPr/>
          <p:nvPr/>
        </p:nvSpPr>
        <p:spPr>
          <a:xfrm>
            <a:off x="959982" y="5982380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4" id="144"/>
          <p:cNvSpPr/>
          <p:nvPr/>
        </p:nvSpPr>
        <p:spPr>
          <a:xfrm>
            <a:off x="959982" y="3592835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5" id="145"/>
          <p:cNvSpPr/>
          <p:nvPr/>
        </p:nvSpPr>
        <p:spPr>
          <a:xfrm>
            <a:off x="959982" y="6459757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6" id="146"/>
          <p:cNvSpPr/>
          <p:nvPr/>
        </p:nvSpPr>
        <p:spPr>
          <a:xfrm>
            <a:off x="959982" y="4070212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7" id="147"/>
          <p:cNvSpPr/>
          <p:nvPr/>
        </p:nvSpPr>
        <p:spPr>
          <a:xfrm>
            <a:off x="959982" y="6937134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8" id="148"/>
          <p:cNvSpPr/>
          <p:nvPr/>
        </p:nvSpPr>
        <p:spPr>
          <a:xfrm>
            <a:off x="959982" y="4547589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9" id="149"/>
          <p:cNvSpPr/>
          <p:nvPr/>
        </p:nvSpPr>
        <p:spPr>
          <a:xfrm>
            <a:off x="959982" y="5505003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0" id="150"/>
          <p:cNvSpPr/>
          <p:nvPr/>
        </p:nvSpPr>
        <p:spPr>
          <a:xfrm>
            <a:off x="959982" y="7414511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1" id="151"/>
          <p:cNvSpPr/>
          <p:nvPr/>
        </p:nvSpPr>
        <p:spPr>
          <a:xfrm>
            <a:off x="959982" y="7926969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2" id="152"/>
          <p:cNvSpPr/>
          <p:nvPr/>
        </p:nvSpPr>
        <p:spPr>
          <a:xfrm>
            <a:off x="959982" y="8397480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3" id="153"/>
          <p:cNvSpPr/>
          <p:nvPr/>
        </p:nvSpPr>
        <p:spPr>
          <a:xfrm>
            <a:off x="959982" y="8906092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4" id="154"/>
          <p:cNvSpPr/>
          <p:nvPr/>
        </p:nvSpPr>
        <p:spPr>
          <a:xfrm>
            <a:off x="959982" y="9378216"/>
            <a:ext cx="4917119" cy="0"/>
          </a:xfrm>
          <a:prstGeom prst="line">
            <a:avLst/>
          </a:prstGeom>
          <a:ln cap="flat" w="9525">
            <a:solidFill>
              <a:srgbClr val="000000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5" id="155"/>
          <p:cNvSpPr/>
          <p:nvPr/>
        </p:nvSpPr>
        <p:spPr>
          <a:xfrm flipH="false" flipV="false" rot="0">
            <a:off x="10220668" y="2738272"/>
            <a:ext cx="928693" cy="1865677"/>
          </a:xfrm>
          <a:custGeom>
            <a:avLst/>
            <a:gdLst/>
            <a:ahLst/>
            <a:cxnLst/>
            <a:rect r="r" b="b" t="t" l="l"/>
            <a:pathLst>
              <a:path h="1865677" w="928693">
                <a:moveTo>
                  <a:pt x="0" y="0"/>
                </a:moveTo>
                <a:lnTo>
                  <a:pt x="928692" y="0"/>
                </a:lnTo>
                <a:lnTo>
                  <a:pt x="928692" y="1865678"/>
                </a:lnTo>
                <a:lnTo>
                  <a:pt x="0" y="18656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6" id="156"/>
          <p:cNvSpPr/>
          <p:nvPr/>
        </p:nvSpPr>
        <p:spPr>
          <a:xfrm flipH="false" flipV="false" rot="0">
            <a:off x="12344250" y="2863301"/>
            <a:ext cx="896641" cy="1698700"/>
          </a:xfrm>
          <a:custGeom>
            <a:avLst/>
            <a:gdLst/>
            <a:ahLst/>
            <a:cxnLst/>
            <a:rect r="r" b="b" t="t" l="l"/>
            <a:pathLst>
              <a:path h="1698700" w="896641">
                <a:moveTo>
                  <a:pt x="0" y="0"/>
                </a:moveTo>
                <a:lnTo>
                  <a:pt x="896642" y="0"/>
                </a:lnTo>
                <a:lnTo>
                  <a:pt x="896642" y="1698701"/>
                </a:lnTo>
                <a:lnTo>
                  <a:pt x="0" y="16987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7" id="157"/>
          <p:cNvSpPr/>
          <p:nvPr/>
        </p:nvSpPr>
        <p:spPr>
          <a:xfrm flipH="false" flipV="false" rot="0">
            <a:off x="13842046" y="2656650"/>
            <a:ext cx="2001135" cy="2001135"/>
          </a:xfrm>
          <a:custGeom>
            <a:avLst/>
            <a:gdLst/>
            <a:ahLst/>
            <a:cxnLst/>
            <a:rect r="r" b="b" t="t" l="l"/>
            <a:pathLst>
              <a:path h="2001135" w="2001135">
                <a:moveTo>
                  <a:pt x="0" y="0"/>
                </a:moveTo>
                <a:lnTo>
                  <a:pt x="2001135" y="0"/>
                </a:lnTo>
                <a:lnTo>
                  <a:pt x="2001135" y="2001135"/>
                </a:lnTo>
                <a:lnTo>
                  <a:pt x="0" y="20011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8" id="158"/>
          <p:cNvSpPr/>
          <p:nvPr/>
        </p:nvSpPr>
        <p:spPr>
          <a:xfrm flipH="false" flipV="false" rot="0">
            <a:off x="16091684" y="2777208"/>
            <a:ext cx="1735196" cy="1735196"/>
          </a:xfrm>
          <a:custGeom>
            <a:avLst/>
            <a:gdLst/>
            <a:ahLst/>
            <a:cxnLst/>
            <a:rect r="r" b="b" t="t" l="l"/>
            <a:pathLst>
              <a:path h="1735196" w="1735196">
                <a:moveTo>
                  <a:pt x="0" y="0"/>
                </a:moveTo>
                <a:lnTo>
                  <a:pt x="1735196" y="0"/>
                </a:lnTo>
                <a:lnTo>
                  <a:pt x="1735196" y="1735196"/>
                </a:lnTo>
                <a:lnTo>
                  <a:pt x="0" y="17351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9" id="159"/>
          <p:cNvSpPr/>
          <p:nvPr/>
        </p:nvSpPr>
        <p:spPr>
          <a:xfrm flipH="false" flipV="false" rot="0">
            <a:off x="7959922" y="5666238"/>
            <a:ext cx="1338412" cy="1338412"/>
          </a:xfrm>
          <a:custGeom>
            <a:avLst/>
            <a:gdLst/>
            <a:ahLst/>
            <a:cxnLst/>
            <a:rect r="r" b="b" t="t" l="l"/>
            <a:pathLst>
              <a:path h="1338412" w="1338412">
                <a:moveTo>
                  <a:pt x="0" y="0"/>
                </a:moveTo>
                <a:lnTo>
                  <a:pt x="1338413" y="0"/>
                </a:lnTo>
                <a:lnTo>
                  <a:pt x="1338413" y="1338413"/>
                </a:lnTo>
                <a:lnTo>
                  <a:pt x="0" y="1338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0" id="160"/>
          <p:cNvSpPr/>
          <p:nvPr/>
        </p:nvSpPr>
        <p:spPr>
          <a:xfrm flipH="false" flipV="false" rot="0">
            <a:off x="9721724" y="5258420"/>
            <a:ext cx="1926766" cy="1926766"/>
          </a:xfrm>
          <a:custGeom>
            <a:avLst/>
            <a:gdLst/>
            <a:ahLst/>
            <a:cxnLst/>
            <a:rect r="r" b="b" t="t" l="l"/>
            <a:pathLst>
              <a:path h="1926766" w="1926766">
                <a:moveTo>
                  <a:pt x="0" y="0"/>
                </a:moveTo>
                <a:lnTo>
                  <a:pt x="1926766" y="0"/>
                </a:lnTo>
                <a:lnTo>
                  <a:pt x="1926766" y="1926766"/>
                </a:lnTo>
                <a:lnTo>
                  <a:pt x="0" y="19267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61" id="161"/>
          <p:cNvSpPr/>
          <p:nvPr/>
        </p:nvSpPr>
        <p:spPr>
          <a:xfrm flipH="false" flipV="false" rot="0">
            <a:off x="7670035" y="7953121"/>
            <a:ext cx="1926766" cy="1926766"/>
          </a:xfrm>
          <a:custGeom>
            <a:avLst/>
            <a:gdLst/>
            <a:ahLst/>
            <a:cxnLst/>
            <a:rect r="r" b="b" t="t" l="l"/>
            <a:pathLst>
              <a:path h="1926766" w="1926766">
                <a:moveTo>
                  <a:pt x="0" y="0"/>
                </a:moveTo>
                <a:lnTo>
                  <a:pt x="1926766" y="0"/>
                </a:lnTo>
                <a:lnTo>
                  <a:pt x="1926766" y="1926767"/>
                </a:lnTo>
                <a:lnTo>
                  <a:pt x="0" y="19267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2" id="162"/>
          <p:cNvSpPr/>
          <p:nvPr/>
        </p:nvSpPr>
        <p:spPr>
          <a:xfrm flipH="false" flipV="false" rot="0">
            <a:off x="15939258" y="5201968"/>
            <a:ext cx="2073180" cy="2039670"/>
          </a:xfrm>
          <a:custGeom>
            <a:avLst/>
            <a:gdLst/>
            <a:ahLst/>
            <a:cxnLst/>
            <a:rect r="r" b="b" t="t" l="l"/>
            <a:pathLst>
              <a:path h="2039670" w="2073180">
                <a:moveTo>
                  <a:pt x="0" y="0"/>
                </a:moveTo>
                <a:lnTo>
                  <a:pt x="2073180" y="0"/>
                </a:lnTo>
                <a:lnTo>
                  <a:pt x="2073180" y="2039670"/>
                </a:lnTo>
                <a:lnTo>
                  <a:pt x="0" y="20396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3" id="163"/>
          <p:cNvSpPr/>
          <p:nvPr/>
        </p:nvSpPr>
        <p:spPr>
          <a:xfrm flipH="false" flipV="false" rot="0">
            <a:off x="13894418" y="5256158"/>
            <a:ext cx="1965777" cy="1931290"/>
          </a:xfrm>
          <a:custGeom>
            <a:avLst/>
            <a:gdLst/>
            <a:ahLst/>
            <a:cxnLst/>
            <a:rect r="r" b="b" t="t" l="l"/>
            <a:pathLst>
              <a:path h="1931290" w="1965777">
                <a:moveTo>
                  <a:pt x="0" y="0"/>
                </a:moveTo>
                <a:lnTo>
                  <a:pt x="1965777" y="0"/>
                </a:lnTo>
                <a:lnTo>
                  <a:pt x="1965777" y="1931290"/>
                </a:lnTo>
                <a:lnTo>
                  <a:pt x="0" y="19312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4" id="164"/>
          <p:cNvSpPr/>
          <p:nvPr/>
        </p:nvSpPr>
        <p:spPr>
          <a:xfrm flipH="false" flipV="false" rot="0">
            <a:off x="11805165" y="5258420"/>
            <a:ext cx="1926766" cy="1926766"/>
          </a:xfrm>
          <a:custGeom>
            <a:avLst/>
            <a:gdLst/>
            <a:ahLst/>
            <a:cxnLst/>
            <a:rect r="r" b="b" t="t" l="l"/>
            <a:pathLst>
              <a:path h="1926766" w="1926766">
                <a:moveTo>
                  <a:pt x="0" y="0"/>
                </a:moveTo>
                <a:lnTo>
                  <a:pt x="1926767" y="0"/>
                </a:lnTo>
                <a:lnTo>
                  <a:pt x="1926767" y="1926766"/>
                </a:lnTo>
                <a:lnTo>
                  <a:pt x="0" y="19267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65" id="165"/>
          <p:cNvSpPr txBox="true"/>
          <p:nvPr/>
        </p:nvSpPr>
        <p:spPr>
          <a:xfrm rot="0">
            <a:off x="981075" y="817386"/>
            <a:ext cx="4896025" cy="43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400" spc="1015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HOMECARE EXTRAS</a:t>
            </a:r>
          </a:p>
        </p:txBody>
      </p:sp>
      <p:sp>
        <p:nvSpPr>
          <p:cNvPr name="TextBox 166" id="166"/>
          <p:cNvSpPr txBox="true"/>
          <p:nvPr/>
        </p:nvSpPr>
        <p:spPr>
          <a:xfrm rot="0">
            <a:off x="933450" y="1470176"/>
            <a:ext cx="6967927" cy="76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5"/>
              </a:lnSpc>
            </a:pPr>
            <a:r>
              <a:rPr lang="en-US" sz="5399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Medical Devices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9870306" y="1454217"/>
            <a:ext cx="8055865" cy="77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TMA Homecare’s advanced equipment ensures accurate health monitoring, making telemedicine accessible and effective from any location.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7785628" y="2652085"/>
            <a:ext cx="231498" cy="23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169" id="169"/>
          <p:cNvSpPr txBox="true"/>
          <p:nvPr/>
        </p:nvSpPr>
        <p:spPr>
          <a:xfrm rot="0">
            <a:off x="9887656" y="2651095"/>
            <a:ext cx="231498" cy="23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170" id="170"/>
          <p:cNvSpPr txBox="true"/>
          <p:nvPr/>
        </p:nvSpPr>
        <p:spPr>
          <a:xfrm rot="0">
            <a:off x="11968574" y="2650082"/>
            <a:ext cx="231498" cy="23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171" id="171"/>
          <p:cNvSpPr txBox="true"/>
          <p:nvPr/>
        </p:nvSpPr>
        <p:spPr>
          <a:xfrm rot="0">
            <a:off x="14056287" y="2650082"/>
            <a:ext cx="231498" cy="23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172" id="172"/>
          <p:cNvSpPr txBox="true"/>
          <p:nvPr/>
        </p:nvSpPr>
        <p:spPr>
          <a:xfrm rot="0">
            <a:off x="16174824" y="2650082"/>
            <a:ext cx="231498" cy="23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7785628" y="5214529"/>
            <a:ext cx="231498" cy="23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  <p:sp>
        <p:nvSpPr>
          <p:cNvPr name="TextBox 174" id="174"/>
          <p:cNvSpPr txBox="true"/>
          <p:nvPr/>
        </p:nvSpPr>
        <p:spPr>
          <a:xfrm rot="0">
            <a:off x="9870306" y="5214529"/>
            <a:ext cx="231498" cy="23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</a:t>
            </a:r>
          </a:p>
        </p:txBody>
      </p:sp>
      <p:sp>
        <p:nvSpPr>
          <p:cNvPr name="TextBox 175" id="175"/>
          <p:cNvSpPr txBox="true"/>
          <p:nvPr/>
        </p:nvSpPr>
        <p:spPr>
          <a:xfrm rot="0">
            <a:off x="11952697" y="5214529"/>
            <a:ext cx="231498" cy="23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 spc="29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</a:t>
            </a:r>
          </a:p>
        </p:txBody>
      </p:sp>
      <p:sp>
        <p:nvSpPr>
          <p:cNvPr name="TextBox 176" id="176"/>
          <p:cNvSpPr txBox="true"/>
          <p:nvPr/>
        </p:nvSpPr>
        <p:spPr>
          <a:xfrm rot="0">
            <a:off x="14011815" y="5214529"/>
            <a:ext cx="292887" cy="2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</a:t>
            </a:r>
          </a:p>
        </p:txBody>
      </p:sp>
      <p:sp>
        <p:nvSpPr>
          <p:cNvPr name="TextBox 177" id="177"/>
          <p:cNvSpPr txBox="true"/>
          <p:nvPr/>
        </p:nvSpPr>
        <p:spPr>
          <a:xfrm rot="0">
            <a:off x="16129784" y="5214529"/>
            <a:ext cx="292887" cy="2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grpSp>
        <p:nvGrpSpPr>
          <p:cNvPr name="Group 178" id="178"/>
          <p:cNvGrpSpPr/>
          <p:nvPr/>
        </p:nvGrpSpPr>
        <p:grpSpPr>
          <a:xfrm rot="0">
            <a:off x="7661456" y="7718716"/>
            <a:ext cx="1935345" cy="2288975"/>
            <a:chOff x="0" y="0"/>
            <a:chExt cx="812800" cy="96131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80" id="180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7765666" y="7823865"/>
            <a:ext cx="328821" cy="328821"/>
            <a:chOff x="0" y="0"/>
            <a:chExt cx="812800" cy="812800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183" id="18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184" id="184"/>
          <p:cNvSpPr txBox="true"/>
          <p:nvPr/>
        </p:nvSpPr>
        <p:spPr>
          <a:xfrm rot="0">
            <a:off x="7783065" y="7855929"/>
            <a:ext cx="292887" cy="2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grpSp>
        <p:nvGrpSpPr>
          <p:cNvPr name="Group 185" id="185"/>
          <p:cNvGrpSpPr/>
          <p:nvPr/>
        </p:nvGrpSpPr>
        <p:grpSpPr>
          <a:xfrm rot="0">
            <a:off x="13911961" y="7718716"/>
            <a:ext cx="1935345" cy="2274336"/>
            <a:chOff x="0" y="0"/>
            <a:chExt cx="812800" cy="95516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812800" cy="955168"/>
            </a:xfrm>
            <a:custGeom>
              <a:avLst/>
              <a:gdLst/>
              <a:ahLst/>
              <a:cxnLst/>
              <a:rect r="r" b="b" t="t" l="l"/>
              <a:pathLst>
                <a:path h="955168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1164"/>
                  </a:lnTo>
                  <a:cubicBezTo>
                    <a:pt x="812800" y="908139"/>
                    <a:pt x="806057" y="924419"/>
                    <a:pt x="794054" y="936422"/>
                  </a:cubicBezTo>
                  <a:cubicBezTo>
                    <a:pt x="782050" y="948425"/>
                    <a:pt x="765771" y="955168"/>
                    <a:pt x="748796" y="955168"/>
                  </a:cubicBezTo>
                  <a:lnTo>
                    <a:pt x="64004" y="955168"/>
                  </a:lnTo>
                  <a:cubicBezTo>
                    <a:pt x="28656" y="955168"/>
                    <a:pt x="0" y="926513"/>
                    <a:pt x="0" y="891164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87" id="187"/>
            <p:cNvSpPr txBox="true"/>
            <p:nvPr/>
          </p:nvSpPr>
          <p:spPr>
            <a:xfrm>
              <a:off x="0" y="-47625"/>
              <a:ext cx="812800" cy="1002793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6012595" y="7718716"/>
            <a:ext cx="1935345" cy="2288975"/>
            <a:chOff x="0" y="0"/>
            <a:chExt cx="812800" cy="9613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90" id="190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9721724" y="7718716"/>
            <a:ext cx="1935345" cy="2288975"/>
            <a:chOff x="0" y="0"/>
            <a:chExt cx="812800" cy="96131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93" id="193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1805165" y="7718716"/>
            <a:ext cx="1935345" cy="2288975"/>
            <a:chOff x="0" y="0"/>
            <a:chExt cx="812800" cy="961316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812800" cy="961316"/>
            </a:xfrm>
            <a:custGeom>
              <a:avLst/>
              <a:gdLst/>
              <a:ahLst/>
              <a:cxnLst/>
              <a:rect r="r" b="b" t="t" l="l"/>
              <a:pathLst>
                <a:path h="961316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84144" y="0"/>
                    <a:pt x="812800" y="28656"/>
                    <a:pt x="812800" y="64004"/>
                  </a:cubicBezTo>
                  <a:lnTo>
                    <a:pt x="812800" y="897312"/>
                  </a:lnTo>
                  <a:cubicBezTo>
                    <a:pt x="812800" y="932660"/>
                    <a:pt x="784144" y="961316"/>
                    <a:pt x="748796" y="961316"/>
                  </a:cubicBezTo>
                  <a:lnTo>
                    <a:pt x="64004" y="961316"/>
                  </a:lnTo>
                  <a:cubicBezTo>
                    <a:pt x="28656" y="961316"/>
                    <a:pt x="0" y="932660"/>
                    <a:pt x="0" y="897312"/>
                  </a:cubicBezTo>
                  <a:lnTo>
                    <a:pt x="0" y="64004"/>
                  </a:lnTo>
                  <a:cubicBezTo>
                    <a:pt x="0" y="28656"/>
                    <a:pt x="28656" y="0"/>
                    <a:pt x="640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1386C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96" id="196"/>
            <p:cNvSpPr txBox="true"/>
            <p:nvPr/>
          </p:nvSpPr>
          <p:spPr>
            <a:xfrm>
              <a:off x="0" y="-47625"/>
              <a:ext cx="812800" cy="1008941"/>
            </a:xfrm>
            <a:prstGeom prst="rect">
              <a:avLst/>
            </a:prstGeom>
          </p:spPr>
          <p:txBody>
            <a:bodyPr anchor="ctr" rtlCol="false" tIns="47357" lIns="47357" bIns="47357" rIns="47357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97" id="197"/>
          <p:cNvSpPr/>
          <p:nvPr/>
        </p:nvSpPr>
        <p:spPr>
          <a:xfrm flipH="false" flipV="false" rot="0">
            <a:off x="10306222" y="8278418"/>
            <a:ext cx="823905" cy="1273142"/>
          </a:xfrm>
          <a:custGeom>
            <a:avLst/>
            <a:gdLst/>
            <a:ahLst/>
            <a:cxnLst/>
            <a:rect r="r" b="b" t="t" l="l"/>
            <a:pathLst>
              <a:path h="1273142" w="823905">
                <a:moveTo>
                  <a:pt x="0" y="0"/>
                </a:moveTo>
                <a:lnTo>
                  <a:pt x="823905" y="0"/>
                </a:lnTo>
                <a:lnTo>
                  <a:pt x="823905" y="1273142"/>
                </a:lnTo>
                <a:lnTo>
                  <a:pt x="0" y="127314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98" id="198"/>
          <p:cNvSpPr/>
          <p:nvPr/>
        </p:nvSpPr>
        <p:spPr>
          <a:xfrm flipH="false" flipV="false" rot="0">
            <a:off x="12389664" y="8278418"/>
            <a:ext cx="823905" cy="1273142"/>
          </a:xfrm>
          <a:custGeom>
            <a:avLst/>
            <a:gdLst/>
            <a:ahLst/>
            <a:cxnLst/>
            <a:rect r="r" b="b" t="t" l="l"/>
            <a:pathLst>
              <a:path h="1273142" w="823905">
                <a:moveTo>
                  <a:pt x="0" y="0"/>
                </a:moveTo>
                <a:lnTo>
                  <a:pt x="823904" y="0"/>
                </a:lnTo>
                <a:lnTo>
                  <a:pt x="823904" y="1273142"/>
                </a:lnTo>
                <a:lnTo>
                  <a:pt x="0" y="127314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8526" t="0" r="-8526" b="0"/>
            </a:stretch>
          </a:blipFill>
        </p:spPr>
      </p:sp>
      <p:grpSp>
        <p:nvGrpSpPr>
          <p:cNvPr name="Group 199" id="199"/>
          <p:cNvGrpSpPr/>
          <p:nvPr/>
        </p:nvGrpSpPr>
        <p:grpSpPr>
          <a:xfrm rot="0">
            <a:off x="9825934" y="7823865"/>
            <a:ext cx="328821" cy="328821"/>
            <a:chOff x="0" y="0"/>
            <a:chExt cx="812800" cy="812800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201" id="20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1909375" y="7823865"/>
            <a:ext cx="328821" cy="328821"/>
            <a:chOff x="0" y="0"/>
            <a:chExt cx="812800" cy="812800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204" id="20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205" id="205"/>
          <p:cNvGrpSpPr/>
          <p:nvPr/>
        </p:nvGrpSpPr>
        <p:grpSpPr>
          <a:xfrm rot="0">
            <a:off x="14011815" y="7823865"/>
            <a:ext cx="328821" cy="328821"/>
            <a:chOff x="0" y="0"/>
            <a:chExt cx="812800" cy="812800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207" id="20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16104481" y="7823865"/>
            <a:ext cx="328821" cy="328821"/>
            <a:chOff x="0" y="0"/>
            <a:chExt cx="812800" cy="812800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1F26"/>
            </a:solidFill>
          </p:spPr>
        </p:sp>
        <p:sp>
          <p:nvSpPr>
            <p:cNvPr name="TextBox 210" id="2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5766" lIns="55766" bIns="55766" rIns="55766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211" id="211"/>
          <p:cNvSpPr txBox="true"/>
          <p:nvPr/>
        </p:nvSpPr>
        <p:spPr>
          <a:xfrm rot="0">
            <a:off x="9830224" y="7855929"/>
            <a:ext cx="320241" cy="2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  <p:sp>
        <p:nvSpPr>
          <p:cNvPr name="TextBox 212" id="212"/>
          <p:cNvSpPr txBox="true"/>
          <p:nvPr/>
        </p:nvSpPr>
        <p:spPr>
          <a:xfrm rot="0">
            <a:off x="11913665" y="7855929"/>
            <a:ext cx="320241" cy="2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</a:t>
            </a:r>
          </a:p>
        </p:txBody>
      </p:sp>
      <p:sp>
        <p:nvSpPr>
          <p:cNvPr name="TextBox 213" id="213"/>
          <p:cNvSpPr txBox="true"/>
          <p:nvPr/>
        </p:nvSpPr>
        <p:spPr>
          <a:xfrm rot="0">
            <a:off x="14016105" y="7855929"/>
            <a:ext cx="320241" cy="2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</a:t>
            </a:r>
          </a:p>
        </p:txBody>
      </p:sp>
      <p:sp>
        <p:nvSpPr>
          <p:cNvPr name="TextBox 214" id="214"/>
          <p:cNvSpPr txBox="true"/>
          <p:nvPr/>
        </p:nvSpPr>
        <p:spPr>
          <a:xfrm rot="0">
            <a:off x="16108771" y="7855929"/>
            <a:ext cx="320241" cy="2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  <a:spcBef>
                <a:spcPct val="0"/>
              </a:spcBef>
            </a:pPr>
            <a:r>
              <a:rPr lang="en-US" b="true" sz="13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</a:t>
            </a:r>
          </a:p>
        </p:txBody>
      </p:sp>
      <p:sp>
        <p:nvSpPr>
          <p:cNvPr name="Freeform 215" id="215"/>
          <p:cNvSpPr/>
          <p:nvPr/>
        </p:nvSpPr>
        <p:spPr>
          <a:xfrm flipH="false" flipV="false" rot="0">
            <a:off x="14251473" y="8155747"/>
            <a:ext cx="1328216" cy="1432373"/>
          </a:xfrm>
          <a:custGeom>
            <a:avLst/>
            <a:gdLst/>
            <a:ahLst/>
            <a:cxnLst/>
            <a:rect r="r" b="b" t="t" l="l"/>
            <a:pathLst>
              <a:path h="1432373" w="1328216">
                <a:moveTo>
                  <a:pt x="0" y="0"/>
                </a:moveTo>
                <a:lnTo>
                  <a:pt x="1328215" y="0"/>
                </a:lnTo>
                <a:lnTo>
                  <a:pt x="1328215" y="1432373"/>
                </a:lnTo>
                <a:lnTo>
                  <a:pt x="0" y="143237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93" t="0" r="-293" b="0"/>
            </a:stretch>
          </a:blipFill>
        </p:spPr>
      </p:sp>
      <p:sp>
        <p:nvSpPr>
          <p:cNvPr name="Freeform 216" id="216"/>
          <p:cNvSpPr/>
          <p:nvPr/>
        </p:nvSpPr>
        <p:spPr>
          <a:xfrm flipH="false" flipV="false" rot="2077876">
            <a:off x="16596352" y="8538603"/>
            <a:ext cx="767831" cy="649200"/>
          </a:xfrm>
          <a:custGeom>
            <a:avLst/>
            <a:gdLst/>
            <a:ahLst/>
            <a:cxnLst/>
            <a:rect r="r" b="b" t="t" l="l"/>
            <a:pathLst>
              <a:path h="649200" w="767831">
                <a:moveTo>
                  <a:pt x="0" y="0"/>
                </a:moveTo>
                <a:lnTo>
                  <a:pt x="767831" y="0"/>
                </a:lnTo>
                <a:lnTo>
                  <a:pt x="767831" y="649200"/>
                </a:lnTo>
                <a:lnTo>
                  <a:pt x="0" y="6492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201" r="-192" b="-201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48500" y="0"/>
            <a:ext cx="10514332" cy="10287000"/>
          </a:xfrm>
          <a:custGeom>
            <a:avLst/>
            <a:gdLst/>
            <a:ahLst/>
            <a:cxnLst/>
            <a:rect r="r" b="b" t="t" l="l"/>
            <a:pathLst>
              <a:path h="10287000" w="10514332">
                <a:moveTo>
                  <a:pt x="0" y="0"/>
                </a:moveTo>
                <a:lnTo>
                  <a:pt x="10514332" y="0"/>
                </a:lnTo>
                <a:lnTo>
                  <a:pt x="105143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 l="0" t="0" r="-16905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48500" y="0"/>
            <a:ext cx="2980565" cy="10287000"/>
            <a:chOff x="0" y="0"/>
            <a:chExt cx="986762" cy="34056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6762" cy="3405672"/>
            </a:xfrm>
            <a:custGeom>
              <a:avLst/>
              <a:gdLst/>
              <a:ahLst/>
              <a:cxnLst/>
              <a:rect r="r" b="b" t="t" l="l"/>
              <a:pathLst>
                <a:path h="3405672" w="986762">
                  <a:moveTo>
                    <a:pt x="0" y="0"/>
                  </a:moveTo>
                  <a:lnTo>
                    <a:pt x="986762" y="0"/>
                  </a:lnTo>
                  <a:lnTo>
                    <a:pt x="986762" y="3405672"/>
                  </a:lnTo>
                  <a:lnTo>
                    <a:pt x="0" y="3405672"/>
                  </a:lnTo>
                  <a:close/>
                </a:path>
              </a:pathLst>
            </a:custGeom>
            <a:solidFill>
              <a:srgbClr val="1C3B6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986762" cy="3462822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34758" y="632294"/>
            <a:ext cx="5699499" cy="174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9"/>
              </a:lnSpc>
            </a:pPr>
            <a:r>
              <a:rPr lang="en-US" sz="6399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Homecare</a:t>
            </a:r>
          </a:p>
          <a:p>
            <a:pPr algn="l">
              <a:lnSpc>
                <a:spcPts val="3719"/>
              </a:lnSpc>
            </a:pPr>
            <a:r>
              <a:rPr lang="en-US" sz="2399" spc="1015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Equipment Overview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38451" y="680980"/>
            <a:ext cx="8420849" cy="1513622"/>
            <a:chOff x="0" y="0"/>
            <a:chExt cx="2787853" cy="5011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87853" cy="501108"/>
            </a:xfrm>
            <a:custGeom>
              <a:avLst/>
              <a:gdLst/>
              <a:ahLst/>
              <a:cxnLst/>
              <a:rect r="r" b="b" t="t" l="l"/>
              <a:pathLst>
                <a:path h="501108" w="2787853">
                  <a:moveTo>
                    <a:pt x="9194" y="0"/>
                  </a:moveTo>
                  <a:lnTo>
                    <a:pt x="2778659" y="0"/>
                  </a:lnTo>
                  <a:cubicBezTo>
                    <a:pt x="2781098" y="0"/>
                    <a:pt x="2783436" y="969"/>
                    <a:pt x="2785160" y="2693"/>
                  </a:cubicBezTo>
                  <a:cubicBezTo>
                    <a:pt x="2786885" y="4417"/>
                    <a:pt x="2787853" y="6755"/>
                    <a:pt x="2787853" y="9194"/>
                  </a:cubicBezTo>
                  <a:lnTo>
                    <a:pt x="2787853" y="491914"/>
                  </a:lnTo>
                  <a:cubicBezTo>
                    <a:pt x="2787853" y="496992"/>
                    <a:pt x="2783737" y="501108"/>
                    <a:pt x="2778659" y="501108"/>
                  </a:cubicBezTo>
                  <a:lnTo>
                    <a:pt x="9194" y="501108"/>
                  </a:lnTo>
                  <a:cubicBezTo>
                    <a:pt x="6755" y="501108"/>
                    <a:pt x="4417" y="500139"/>
                    <a:pt x="2693" y="498415"/>
                  </a:cubicBezTo>
                  <a:cubicBezTo>
                    <a:pt x="969" y="496691"/>
                    <a:pt x="0" y="494353"/>
                    <a:pt x="0" y="491914"/>
                  </a:cubicBezTo>
                  <a:lnTo>
                    <a:pt x="0" y="9194"/>
                  </a:lnTo>
                  <a:cubicBezTo>
                    <a:pt x="0" y="6755"/>
                    <a:pt x="969" y="4417"/>
                    <a:pt x="2693" y="2693"/>
                  </a:cubicBezTo>
                  <a:cubicBezTo>
                    <a:pt x="4417" y="969"/>
                    <a:pt x="6755" y="0"/>
                    <a:pt x="91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87853" cy="558258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36526" y="1105769"/>
            <a:ext cx="664045" cy="66404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02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296720" y="1237616"/>
            <a:ext cx="343658" cy="35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  <a:spcBef>
                <a:spcPct val="0"/>
              </a:spcBef>
            </a:pPr>
            <a:r>
              <a:rPr lang="en-US" b="true" sz="2007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65008" y="1088044"/>
            <a:ext cx="378457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C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Rugged Tablet PC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65008" y="1494803"/>
            <a:ext cx="570336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Durable and optimized for seamless telehealth interactions.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838451" y="3035546"/>
            <a:ext cx="8420849" cy="1513622"/>
            <a:chOff x="0" y="0"/>
            <a:chExt cx="2787853" cy="5011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87853" cy="501108"/>
            </a:xfrm>
            <a:custGeom>
              <a:avLst/>
              <a:gdLst/>
              <a:ahLst/>
              <a:cxnLst/>
              <a:rect r="r" b="b" t="t" l="l"/>
              <a:pathLst>
                <a:path h="501108" w="2787853">
                  <a:moveTo>
                    <a:pt x="9194" y="0"/>
                  </a:moveTo>
                  <a:lnTo>
                    <a:pt x="2778659" y="0"/>
                  </a:lnTo>
                  <a:cubicBezTo>
                    <a:pt x="2781098" y="0"/>
                    <a:pt x="2783436" y="969"/>
                    <a:pt x="2785160" y="2693"/>
                  </a:cubicBezTo>
                  <a:cubicBezTo>
                    <a:pt x="2786885" y="4417"/>
                    <a:pt x="2787853" y="6755"/>
                    <a:pt x="2787853" y="9194"/>
                  </a:cubicBezTo>
                  <a:lnTo>
                    <a:pt x="2787853" y="491914"/>
                  </a:lnTo>
                  <a:cubicBezTo>
                    <a:pt x="2787853" y="496992"/>
                    <a:pt x="2783737" y="501108"/>
                    <a:pt x="2778659" y="501108"/>
                  </a:cubicBezTo>
                  <a:lnTo>
                    <a:pt x="9194" y="501108"/>
                  </a:lnTo>
                  <a:cubicBezTo>
                    <a:pt x="6755" y="501108"/>
                    <a:pt x="4417" y="500139"/>
                    <a:pt x="2693" y="498415"/>
                  </a:cubicBezTo>
                  <a:cubicBezTo>
                    <a:pt x="969" y="496691"/>
                    <a:pt x="0" y="494353"/>
                    <a:pt x="0" y="491914"/>
                  </a:cubicBezTo>
                  <a:lnTo>
                    <a:pt x="0" y="9194"/>
                  </a:lnTo>
                  <a:cubicBezTo>
                    <a:pt x="0" y="6755"/>
                    <a:pt x="969" y="4417"/>
                    <a:pt x="2693" y="2693"/>
                  </a:cubicBezTo>
                  <a:cubicBezTo>
                    <a:pt x="4417" y="969"/>
                    <a:pt x="6755" y="0"/>
                    <a:pt x="91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787853" cy="558258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36526" y="3460335"/>
            <a:ext cx="664045" cy="66404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02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296720" y="3592182"/>
            <a:ext cx="343658" cy="35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  <a:spcBef>
                <a:spcPct val="0"/>
              </a:spcBef>
            </a:pPr>
            <a:r>
              <a:rPr lang="en-US" b="true" sz="2007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65008" y="3312315"/>
            <a:ext cx="378457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C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Monitoring Screen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65008" y="3719073"/>
            <a:ext cx="570336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7" touchscreen with ECG, SPO2, and Wi-Fi connectivity for real-time health tracking.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838451" y="5390112"/>
            <a:ext cx="8420849" cy="1513622"/>
            <a:chOff x="0" y="0"/>
            <a:chExt cx="2787853" cy="5011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87853" cy="501108"/>
            </a:xfrm>
            <a:custGeom>
              <a:avLst/>
              <a:gdLst/>
              <a:ahLst/>
              <a:cxnLst/>
              <a:rect r="r" b="b" t="t" l="l"/>
              <a:pathLst>
                <a:path h="501108" w="2787853">
                  <a:moveTo>
                    <a:pt x="9194" y="0"/>
                  </a:moveTo>
                  <a:lnTo>
                    <a:pt x="2778659" y="0"/>
                  </a:lnTo>
                  <a:cubicBezTo>
                    <a:pt x="2781098" y="0"/>
                    <a:pt x="2783436" y="969"/>
                    <a:pt x="2785160" y="2693"/>
                  </a:cubicBezTo>
                  <a:cubicBezTo>
                    <a:pt x="2786885" y="4417"/>
                    <a:pt x="2787853" y="6755"/>
                    <a:pt x="2787853" y="9194"/>
                  </a:cubicBezTo>
                  <a:lnTo>
                    <a:pt x="2787853" y="491914"/>
                  </a:lnTo>
                  <a:cubicBezTo>
                    <a:pt x="2787853" y="496992"/>
                    <a:pt x="2783737" y="501108"/>
                    <a:pt x="2778659" y="501108"/>
                  </a:cubicBezTo>
                  <a:lnTo>
                    <a:pt x="9194" y="501108"/>
                  </a:lnTo>
                  <a:cubicBezTo>
                    <a:pt x="6755" y="501108"/>
                    <a:pt x="4417" y="500139"/>
                    <a:pt x="2693" y="498415"/>
                  </a:cubicBezTo>
                  <a:cubicBezTo>
                    <a:pt x="969" y="496691"/>
                    <a:pt x="0" y="494353"/>
                    <a:pt x="0" y="491914"/>
                  </a:cubicBezTo>
                  <a:lnTo>
                    <a:pt x="0" y="9194"/>
                  </a:lnTo>
                  <a:cubicBezTo>
                    <a:pt x="0" y="6755"/>
                    <a:pt x="969" y="4417"/>
                    <a:pt x="2693" y="2693"/>
                  </a:cubicBezTo>
                  <a:cubicBezTo>
                    <a:pt x="4417" y="969"/>
                    <a:pt x="6755" y="0"/>
                    <a:pt x="91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2787853" cy="558258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36526" y="5814901"/>
            <a:ext cx="664045" cy="664045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02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296720" y="5946748"/>
            <a:ext cx="343658" cy="35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  <a:spcBef>
                <a:spcPct val="0"/>
              </a:spcBef>
            </a:pPr>
            <a:r>
              <a:rPr lang="en-US" b="true" sz="2007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65008" y="5666881"/>
            <a:ext cx="378457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C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 Camera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65008" y="6073639"/>
            <a:ext cx="570336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High-definition video capabilities for clear and effective remote consultations.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838451" y="7744678"/>
            <a:ext cx="8420849" cy="1513622"/>
            <a:chOff x="0" y="0"/>
            <a:chExt cx="2787853" cy="5011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87853" cy="501108"/>
            </a:xfrm>
            <a:custGeom>
              <a:avLst/>
              <a:gdLst/>
              <a:ahLst/>
              <a:cxnLst/>
              <a:rect r="r" b="b" t="t" l="l"/>
              <a:pathLst>
                <a:path h="501108" w="2787853">
                  <a:moveTo>
                    <a:pt x="9194" y="0"/>
                  </a:moveTo>
                  <a:lnTo>
                    <a:pt x="2778659" y="0"/>
                  </a:lnTo>
                  <a:cubicBezTo>
                    <a:pt x="2781098" y="0"/>
                    <a:pt x="2783436" y="969"/>
                    <a:pt x="2785160" y="2693"/>
                  </a:cubicBezTo>
                  <a:cubicBezTo>
                    <a:pt x="2786885" y="4417"/>
                    <a:pt x="2787853" y="6755"/>
                    <a:pt x="2787853" y="9194"/>
                  </a:cubicBezTo>
                  <a:lnTo>
                    <a:pt x="2787853" y="491914"/>
                  </a:lnTo>
                  <a:cubicBezTo>
                    <a:pt x="2787853" y="496992"/>
                    <a:pt x="2783737" y="501108"/>
                    <a:pt x="2778659" y="501108"/>
                  </a:cubicBezTo>
                  <a:lnTo>
                    <a:pt x="9194" y="501108"/>
                  </a:lnTo>
                  <a:cubicBezTo>
                    <a:pt x="6755" y="501108"/>
                    <a:pt x="4417" y="500139"/>
                    <a:pt x="2693" y="498415"/>
                  </a:cubicBezTo>
                  <a:cubicBezTo>
                    <a:pt x="969" y="496691"/>
                    <a:pt x="0" y="494353"/>
                    <a:pt x="0" y="491914"/>
                  </a:cubicBezTo>
                  <a:lnTo>
                    <a:pt x="0" y="9194"/>
                  </a:lnTo>
                  <a:cubicBezTo>
                    <a:pt x="0" y="6755"/>
                    <a:pt x="969" y="4417"/>
                    <a:pt x="2693" y="2693"/>
                  </a:cubicBezTo>
                  <a:cubicBezTo>
                    <a:pt x="4417" y="969"/>
                    <a:pt x="6755" y="0"/>
                    <a:pt x="91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2787853" cy="558258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36526" y="8169467"/>
            <a:ext cx="664045" cy="66404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02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296720" y="8301314"/>
            <a:ext cx="343658" cy="35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  <a:spcBef>
                <a:spcPct val="0"/>
              </a:spcBef>
            </a:pPr>
            <a:r>
              <a:rPr lang="en-US" b="true" sz="2007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065008" y="8151742"/>
            <a:ext cx="485362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C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Digital Stethoscope &amp; Spirometer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065008" y="8558501"/>
            <a:ext cx="570336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Advanced diagnostic tools for precise remote assessments.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4758" y="2821778"/>
            <a:ext cx="5242950" cy="141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Homecare provides a comprehensive range of telemedicine devices to support remote healthcare and patient monitoring.</a:t>
            </a:r>
          </a:p>
          <a:p>
            <a:pPr algn="l">
              <a:lnSpc>
                <a:spcPts val="2880"/>
              </a:lnSpc>
            </a:pP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5052696" y="1030118"/>
            <a:ext cx="3401222" cy="815406"/>
          </a:xfrm>
          <a:custGeom>
            <a:avLst/>
            <a:gdLst/>
            <a:ahLst/>
            <a:cxnLst/>
            <a:rect r="r" b="b" t="t" l="l"/>
            <a:pathLst>
              <a:path h="815406" w="3401222">
                <a:moveTo>
                  <a:pt x="0" y="0"/>
                </a:moveTo>
                <a:lnTo>
                  <a:pt x="3401222" y="0"/>
                </a:lnTo>
                <a:lnTo>
                  <a:pt x="3401222" y="815406"/>
                </a:lnTo>
                <a:lnTo>
                  <a:pt x="0" y="815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73" t="0" r="-40765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404334" y="9560635"/>
            <a:ext cx="12268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www.tma.gr</a:t>
            </a:r>
          </a:p>
        </p:txBody>
      </p:sp>
      <p:sp>
        <p:nvSpPr>
          <p:cNvPr name="AutoShape 46" id="46"/>
          <p:cNvSpPr/>
          <p:nvPr/>
        </p:nvSpPr>
        <p:spPr>
          <a:xfrm>
            <a:off x="1028700" y="9713035"/>
            <a:ext cx="280041" cy="0"/>
          </a:xfrm>
          <a:prstGeom prst="line">
            <a:avLst/>
          </a:prstGeom>
          <a:ln cap="flat" w="19050">
            <a:solidFill>
              <a:srgbClr val="D7202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48500" y="0"/>
            <a:ext cx="10514332" cy="10287000"/>
          </a:xfrm>
          <a:custGeom>
            <a:avLst/>
            <a:gdLst/>
            <a:ahLst/>
            <a:cxnLst/>
            <a:rect r="r" b="b" t="t" l="l"/>
            <a:pathLst>
              <a:path h="10287000" w="10514332">
                <a:moveTo>
                  <a:pt x="0" y="0"/>
                </a:moveTo>
                <a:lnTo>
                  <a:pt x="10514332" y="0"/>
                </a:lnTo>
                <a:lnTo>
                  <a:pt x="105143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 l="0" t="0" r="-16905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48500" y="0"/>
            <a:ext cx="2980565" cy="10287000"/>
            <a:chOff x="0" y="0"/>
            <a:chExt cx="986762" cy="34056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6762" cy="3405672"/>
            </a:xfrm>
            <a:custGeom>
              <a:avLst/>
              <a:gdLst/>
              <a:ahLst/>
              <a:cxnLst/>
              <a:rect r="r" b="b" t="t" l="l"/>
              <a:pathLst>
                <a:path h="3405672" w="986762">
                  <a:moveTo>
                    <a:pt x="0" y="0"/>
                  </a:moveTo>
                  <a:lnTo>
                    <a:pt x="986762" y="0"/>
                  </a:lnTo>
                  <a:lnTo>
                    <a:pt x="986762" y="3405672"/>
                  </a:lnTo>
                  <a:lnTo>
                    <a:pt x="0" y="3405672"/>
                  </a:lnTo>
                  <a:close/>
                </a:path>
              </a:pathLst>
            </a:custGeom>
            <a:solidFill>
              <a:srgbClr val="1C3B6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986762" cy="3462822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38451" y="4977806"/>
            <a:ext cx="8420849" cy="1513622"/>
            <a:chOff x="0" y="0"/>
            <a:chExt cx="2787853" cy="5011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7853" cy="501108"/>
            </a:xfrm>
            <a:custGeom>
              <a:avLst/>
              <a:gdLst/>
              <a:ahLst/>
              <a:cxnLst/>
              <a:rect r="r" b="b" t="t" l="l"/>
              <a:pathLst>
                <a:path h="501108" w="2787853">
                  <a:moveTo>
                    <a:pt x="9194" y="0"/>
                  </a:moveTo>
                  <a:lnTo>
                    <a:pt x="2778659" y="0"/>
                  </a:lnTo>
                  <a:cubicBezTo>
                    <a:pt x="2781098" y="0"/>
                    <a:pt x="2783436" y="969"/>
                    <a:pt x="2785160" y="2693"/>
                  </a:cubicBezTo>
                  <a:cubicBezTo>
                    <a:pt x="2786885" y="4417"/>
                    <a:pt x="2787853" y="6755"/>
                    <a:pt x="2787853" y="9194"/>
                  </a:cubicBezTo>
                  <a:lnTo>
                    <a:pt x="2787853" y="491914"/>
                  </a:lnTo>
                  <a:cubicBezTo>
                    <a:pt x="2787853" y="496992"/>
                    <a:pt x="2783737" y="501108"/>
                    <a:pt x="2778659" y="501108"/>
                  </a:cubicBezTo>
                  <a:lnTo>
                    <a:pt x="9194" y="501108"/>
                  </a:lnTo>
                  <a:cubicBezTo>
                    <a:pt x="6755" y="501108"/>
                    <a:pt x="4417" y="500139"/>
                    <a:pt x="2693" y="498415"/>
                  </a:cubicBezTo>
                  <a:cubicBezTo>
                    <a:pt x="969" y="496691"/>
                    <a:pt x="0" y="494353"/>
                    <a:pt x="0" y="491914"/>
                  </a:cubicBezTo>
                  <a:lnTo>
                    <a:pt x="0" y="9194"/>
                  </a:lnTo>
                  <a:cubicBezTo>
                    <a:pt x="0" y="6755"/>
                    <a:pt x="969" y="4417"/>
                    <a:pt x="2693" y="2693"/>
                  </a:cubicBezTo>
                  <a:cubicBezTo>
                    <a:pt x="4417" y="969"/>
                    <a:pt x="6755" y="0"/>
                    <a:pt x="91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7853" cy="558258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36526" y="5402594"/>
            <a:ext cx="664045" cy="66404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02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296720" y="5534441"/>
            <a:ext cx="343658" cy="35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  <a:spcBef>
                <a:spcPct val="0"/>
              </a:spcBef>
            </a:pPr>
            <a:r>
              <a:rPr lang="en-US" b="true" sz="2007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65008" y="5254574"/>
            <a:ext cx="479288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C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Multi-Measurement Device (NFC)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65008" y="5661333"/>
            <a:ext cx="6232766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Conducts glucose, cholesterol, uric acid, and other essential health tests.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838451" y="2623240"/>
            <a:ext cx="8420849" cy="1513622"/>
            <a:chOff x="0" y="0"/>
            <a:chExt cx="2787853" cy="5011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87853" cy="501108"/>
            </a:xfrm>
            <a:custGeom>
              <a:avLst/>
              <a:gdLst/>
              <a:ahLst/>
              <a:cxnLst/>
              <a:rect r="r" b="b" t="t" l="l"/>
              <a:pathLst>
                <a:path h="501108" w="2787853">
                  <a:moveTo>
                    <a:pt x="9194" y="0"/>
                  </a:moveTo>
                  <a:lnTo>
                    <a:pt x="2778659" y="0"/>
                  </a:lnTo>
                  <a:cubicBezTo>
                    <a:pt x="2781098" y="0"/>
                    <a:pt x="2783436" y="969"/>
                    <a:pt x="2785160" y="2693"/>
                  </a:cubicBezTo>
                  <a:cubicBezTo>
                    <a:pt x="2786885" y="4417"/>
                    <a:pt x="2787853" y="6755"/>
                    <a:pt x="2787853" y="9194"/>
                  </a:cubicBezTo>
                  <a:lnTo>
                    <a:pt x="2787853" y="491914"/>
                  </a:lnTo>
                  <a:cubicBezTo>
                    <a:pt x="2787853" y="496992"/>
                    <a:pt x="2783737" y="501108"/>
                    <a:pt x="2778659" y="501108"/>
                  </a:cubicBezTo>
                  <a:lnTo>
                    <a:pt x="9194" y="501108"/>
                  </a:lnTo>
                  <a:cubicBezTo>
                    <a:pt x="6755" y="501108"/>
                    <a:pt x="4417" y="500139"/>
                    <a:pt x="2693" y="498415"/>
                  </a:cubicBezTo>
                  <a:cubicBezTo>
                    <a:pt x="969" y="496691"/>
                    <a:pt x="0" y="494353"/>
                    <a:pt x="0" y="491914"/>
                  </a:cubicBezTo>
                  <a:lnTo>
                    <a:pt x="0" y="9194"/>
                  </a:lnTo>
                  <a:cubicBezTo>
                    <a:pt x="0" y="6755"/>
                    <a:pt x="969" y="4417"/>
                    <a:pt x="2693" y="2693"/>
                  </a:cubicBezTo>
                  <a:cubicBezTo>
                    <a:pt x="4417" y="969"/>
                    <a:pt x="6755" y="0"/>
                    <a:pt x="91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787853" cy="558258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36526" y="3048028"/>
            <a:ext cx="664045" cy="66404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02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296720" y="3179875"/>
            <a:ext cx="343658" cy="35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  <a:spcBef>
                <a:spcPct val="0"/>
              </a:spcBef>
            </a:pPr>
            <a:r>
              <a:rPr lang="en-US" b="true" sz="2007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65008" y="3030304"/>
            <a:ext cx="378457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C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Portable X-RAY Machine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65008" y="3437062"/>
            <a:ext cx="623276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Compact and powerful for remote imaging and faster diagnostics.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838451" y="7332372"/>
            <a:ext cx="8420849" cy="1513622"/>
            <a:chOff x="0" y="0"/>
            <a:chExt cx="2787853" cy="5011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87853" cy="501108"/>
            </a:xfrm>
            <a:custGeom>
              <a:avLst/>
              <a:gdLst/>
              <a:ahLst/>
              <a:cxnLst/>
              <a:rect r="r" b="b" t="t" l="l"/>
              <a:pathLst>
                <a:path h="501108" w="2787853">
                  <a:moveTo>
                    <a:pt x="9194" y="0"/>
                  </a:moveTo>
                  <a:lnTo>
                    <a:pt x="2778659" y="0"/>
                  </a:lnTo>
                  <a:cubicBezTo>
                    <a:pt x="2781098" y="0"/>
                    <a:pt x="2783436" y="969"/>
                    <a:pt x="2785160" y="2693"/>
                  </a:cubicBezTo>
                  <a:cubicBezTo>
                    <a:pt x="2786885" y="4417"/>
                    <a:pt x="2787853" y="6755"/>
                    <a:pt x="2787853" y="9194"/>
                  </a:cubicBezTo>
                  <a:lnTo>
                    <a:pt x="2787853" y="491914"/>
                  </a:lnTo>
                  <a:cubicBezTo>
                    <a:pt x="2787853" y="496992"/>
                    <a:pt x="2783737" y="501108"/>
                    <a:pt x="2778659" y="501108"/>
                  </a:cubicBezTo>
                  <a:lnTo>
                    <a:pt x="9194" y="501108"/>
                  </a:lnTo>
                  <a:cubicBezTo>
                    <a:pt x="6755" y="501108"/>
                    <a:pt x="4417" y="500139"/>
                    <a:pt x="2693" y="498415"/>
                  </a:cubicBezTo>
                  <a:cubicBezTo>
                    <a:pt x="969" y="496691"/>
                    <a:pt x="0" y="494353"/>
                    <a:pt x="0" y="491914"/>
                  </a:cubicBezTo>
                  <a:lnTo>
                    <a:pt x="0" y="9194"/>
                  </a:lnTo>
                  <a:cubicBezTo>
                    <a:pt x="0" y="6755"/>
                    <a:pt x="969" y="4417"/>
                    <a:pt x="2693" y="2693"/>
                  </a:cubicBezTo>
                  <a:cubicBezTo>
                    <a:pt x="4417" y="969"/>
                    <a:pt x="6755" y="0"/>
                    <a:pt x="91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2787853" cy="558258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36526" y="7757160"/>
            <a:ext cx="664045" cy="66404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02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40413" lIns="40413" bIns="40413" rIns="40413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296720" y="7889007"/>
            <a:ext cx="343658" cy="35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  <a:spcBef>
                <a:spcPct val="0"/>
              </a:spcBef>
            </a:pPr>
            <a:r>
              <a:rPr lang="en-US" b="true" sz="2007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65008" y="7609140"/>
            <a:ext cx="378457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C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L03 Airtag-Style GPS Tracker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65008" y="8015899"/>
            <a:ext cx="6232766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Compact and discreet device for real-time location tracking, geofencing alerts, and emergency assistance.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04334" y="9560635"/>
            <a:ext cx="12268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www.tma.gr</a:t>
            </a:r>
          </a:p>
        </p:txBody>
      </p:sp>
      <p:sp>
        <p:nvSpPr>
          <p:cNvPr name="AutoShape 34" id="34"/>
          <p:cNvSpPr/>
          <p:nvPr/>
        </p:nvSpPr>
        <p:spPr>
          <a:xfrm>
            <a:off x="1028700" y="9713035"/>
            <a:ext cx="280041" cy="0"/>
          </a:xfrm>
          <a:prstGeom prst="line">
            <a:avLst/>
          </a:prstGeom>
          <a:ln cap="flat" w="19050">
            <a:solidFill>
              <a:srgbClr val="D720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1034758" y="632294"/>
            <a:ext cx="5699499" cy="174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9"/>
              </a:lnSpc>
            </a:pPr>
            <a:r>
              <a:rPr lang="en-US" sz="6399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Homecare</a:t>
            </a:r>
          </a:p>
          <a:p>
            <a:pPr algn="l">
              <a:lnSpc>
                <a:spcPts val="3719"/>
              </a:lnSpc>
            </a:pPr>
            <a:r>
              <a:rPr lang="en-US" sz="2399" spc="1015">
                <a:solidFill>
                  <a:srgbClr val="1C3B6A"/>
                </a:solidFill>
                <a:latin typeface="Open Sans"/>
                <a:ea typeface="Open Sans"/>
                <a:cs typeface="Open Sans"/>
                <a:sym typeface="Open Sans"/>
              </a:rPr>
              <a:t>Equipment Overview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34758" y="2821778"/>
            <a:ext cx="5242950" cy="141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6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Homecare provides a comprehensive range of telemedicine devices to support remote healthcare and patient monitoring.</a:t>
            </a:r>
          </a:p>
          <a:p>
            <a:pPr algn="l">
              <a:lnSpc>
                <a:spcPts val="2880"/>
              </a:lnSpc>
            </a:pP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5052696" y="1030118"/>
            <a:ext cx="3401222" cy="815406"/>
          </a:xfrm>
          <a:custGeom>
            <a:avLst/>
            <a:gdLst/>
            <a:ahLst/>
            <a:cxnLst/>
            <a:rect r="r" b="b" t="t" l="l"/>
            <a:pathLst>
              <a:path h="815406" w="3401222">
                <a:moveTo>
                  <a:pt x="0" y="0"/>
                </a:moveTo>
                <a:lnTo>
                  <a:pt x="3401222" y="0"/>
                </a:lnTo>
                <a:lnTo>
                  <a:pt x="3401222" y="815406"/>
                </a:lnTo>
                <a:lnTo>
                  <a:pt x="0" y="815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73" t="0" r="-40765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-15280" t="0" r="-1528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8036" y="4857750"/>
            <a:ext cx="1094216" cy="109421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3B6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96892" y="4857750"/>
            <a:ext cx="1094216" cy="109421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3B6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318283" y="4857750"/>
            <a:ext cx="1094216" cy="109421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3B6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596055" y="5135522"/>
            <a:ext cx="538672" cy="538672"/>
          </a:xfrm>
          <a:custGeom>
            <a:avLst/>
            <a:gdLst/>
            <a:ahLst/>
            <a:cxnLst/>
            <a:rect r="r" b="b" t="t" l="l"/>
            <a:pathLst>
              <a:path h="538672" w="538672">
                <a:moveTo>
                  <a:pt x="0" y="0"/>
                </a:moveTo>
                <a:lnTo>
                  <a:pt x="538672" y="0"/>
                </a:lnTo>
                <a:lnTo>
                  <a:pt x="538672" y="538672"/>
                </a:lnTo>
                <a:lnTo>
                  <a:pt x="0" y="5386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926484" y="5177639"/>
            <a:ext cx="437567" cy="437567"/>
          </a:xfrm>
          <a:custGeom>
            <a:avLst/>
            <a:gdLst/>
            <a:ahLst/>
            <a:cxnLst/>
            <a:rect r="r" b="b" t="t" l="l"/>
            <a:pathLst>
              <a:path h="437567" w="437567">
                <a:moveTo>
                  <a:pt x="0" y="0"/>
                </a:moveTo>
                <a:lnTo>
                  <a:pt x="437568" y="0"/>
                </a:lnTo>
                <a:lnTo>
                  <a:pt x="437568" y="437567"/>
                </a:lnTo>
                <a:lnTo>
                  <a:pt x="0" y="4375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206361" y="5177639"/>
            <a:ext cx="437567" cy="437567"/>
          </a:xfrm>
          <a:custGeom>
            <a:avLst/>
            <a:gdLst/>
            <a:ahLst/>
            <a:cxnLst/>
            <a:rect r="r" b="b" t="t" l="l"/>
            <a:pathLst>
              <a:path h="437567" w="437567">
                <a:moveTo>
                  <a:pt x="0" y="0"/>
                </a:moveTo>
                <a:lnTo>
                  <a:pt x="437567" y="0"/>
                </a:lnTo>
                <a:lnTo>
                  <a:pt x="437567" y="437567"/>
                </a:lnTo>
                <a:lnTo>
                  <a:pt x="0" y="4375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79226" y="8476440"/>
            <a:ext cx="1013953" cy="1013953"/>
          </a:xfrm>
          <a:custGeom>
            <a:avLst/>
            <a:gdLst/>
            <a:ahLst/>
            <a:cxnLst/>
            <a:rect r="r" b="b" t="t" l="l"/>
            <a:pathLst>
              <a:path h="1013953" w="1013953">
                <a:moveTo>
                  <a:pt x="0" y="0"/>
                </a:moveTo>
                <a:lnTo>
                  <a:pt x="1013953" y="0"/>
                </a:lnTo>
                <a:lnTo>
                  <a:pt x="1013953" y="1013953"/>
                </a:lnTo>
                <a:lnTo>
                  <a:pt x="0" y="10139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093405" y="1954957"/>
            <a:ext cx="6101189" cy="1297889"/>
          </a:xfrm>
          <a:custGeom>
            <a:avLst/>
            <a:gdLst/>
            <a:ahLst/>
            <a:cxnLst/>
            <a:rect r="r" b="b" t="t" l="l"/>
            <a:pathLst>
              <a:path h="1297889" w="6101189">
                <a:moveTo>
                  <a:pt x="0" y="0"/>
                </a:moveTo>
                <a:lnTo>
                  <a:pt x="6101190" y="0"/>
                </a:lnTo>
                <a:lnTo>
                  <a:pt x="6101190" y="1297890"/>
                </a:lnTo>
                <a:lnTo>
                  <a:pt x="0" y="12978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271999" y="9163050"/>
            <a:ext cx="2139462" cy="190500"/>
          </a:xfrm>
          <a:custGeom>
            <a:avLst/>
            <a:gdLst/>
            <a:ahLst/>
            <a:cxnLst/>
            <a:rect r="r" b="b" t="t" l="l"/>
            <a:pathLst>
              <a:path h="190500" w="2139462">
                <a:moveTo>
                  <a:pt x="0" y="0"/>
                </a:moveTo>
                <a:lnTo>
                  <a:pt x="2139462" y="0"/>
                </a:lnTo>
                <a:lnTo>
                  <a:pt x="2139462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47195" y="8676465"/>
            <a:ext cx="5412105" cy="791520"/>
          </a:xfrm>
          <a:custGeom>
            <a:avLst/>
            <a:gdLst/>
            <a:ahLst/>
            <a:cxnLst/>
            <a:rect r="r" b="b" t="t" l="l"/>
            <a:pathLst>
              <a:path h="791520" w="5412105">
                <a:moveTo>
                  <a:pt x="0" y="0"/>
                </a:moveTo>
                <a:lnTo>
                  <a:pt x="5412105" y="0"/>
                </a:lnTo>
                <a:lnTo>
                  <a:pt x="5412105" y="791520"/>
                </a:lnTo>
                <a:lnTo>
                  <a:pt x="0" y="79152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136" t="0" r="-136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02624" y="6309968"/>
            <a:ext cx="4445041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1C3B6A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151 Al. Papanastasiou Avenue,</a:t>
            </a:r>
          </a:p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1C3B6A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Piraeus, PC </a:t>
            </a:r>
            <a:r>
              <a:rPr lang="en-US" sz="2200" b="true">
                <a:solidFill>
                  <a:srgbClr val="1C3B6A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18533, Greece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42871" y="6309968"/>
            <a:ext cx="444504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1C3B6A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info@tma.gr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21479" y="6309968"/>
            <a:ext cx="4445041" cy="37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1C3B6A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+30 211 1165 330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71999" y="8495490"/>
            <a:ext cx="3003863" cy="38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6"/>
              </a:lnSpc>
            </a:pPr>
            <a:r>
              <a:rPr lang="en-US" sz="2219" spc="-4" b="true">
                <a:solidFill>
                  <a:srgbClr val="1C3B6A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www.tma.gr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DAGhVHu80ms</dc:identifier>
  <dcterms:modified xsi:type="dcterms:W3CDTF">2011-08-01T06:04:30Z</dcterms:modified>
  <cp:revision>1</cp:revision>
  <dc:title>EN | TMA Homecare Presentation</dc:title>
</cp:coreProperties>
</file>