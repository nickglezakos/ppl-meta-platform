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Roboto"/>
              </a:rPr>
              <a:t>Eyenet Vision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517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06B6D4"/>
                </a:solidFill>
                <a:latin typeface="Roboto"/>
              </a:rPr>
              <a:t>Core Functionalities &amp;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59E0B"/>
                </a:solidFill>
                <a:latin typeface="Roboto"/>
              </a:rPr>
              <a:t>Turning ordinary cameras into an intelligent, always-on assistant for safer, smarter, more efficient operations.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6035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Roboto"/>
              </a:rPr>
              <a:t>Version 2.23.1  |  January 15, 2026  |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640080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FFFFFF"/>
                </a:solidFill>
                <a:latin typeface="Roboto"/>
              </a:rPr>
              <a:t>• Counts visitors, detects unusual events, and drives automated responses in real time.</a:t>
            </a:r>
            <a:br/>
            <a:r>
              <a:rPr sz="1600">
                <a:solidFill>
                  <a:srgbClr val="FFFFFF"/>
                </a:solidFill>
                <a:latin typeface="Roboto"/>
              </a:rPr>
              <a:t>Runs locally on owner-controlled hardware with privacy-first, offline-capable operation.</a:t>
            </a:r>
            <a:br/>
            <a:r>
              <a:rPr sz="1600">
                <a:solidFill>
                  <a:srgbClr val="FFFFFF"/>
                </a:solidFill>
                <a:latin typeface="Roboto"/>
              </a:rPr>
              <a:t>Scales from a single camera to multi-site estates without per-camera licensing ceilings.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 i="0">
                <a:solidFill>
                  <a:srgbClr val="FFFFFF"/>
                </a:solidFill>
                <a:latin typeface="Roboto"/>
              </a:rPr>
              <a:t>How Eyenet Multiplies Human Operation Capacity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0" i="0">
                <a:solidFill>
                  <a:srgbClr val="4F46E5"/>
                </a:solidFill>
                <a:latin typeface="Roboto"/>
              </a:rPr>
              <a:t>Boost Moderate Cameras to Powerful Machine Vision Nodes</a:t>
            </a:r>
          </a:p>
          <a:p>
            <a:r>
              <a:rPr sz="1700" b="0" i="0">
                <a:solidFill>
                  <a:srgbClr val="4F46E5"/>
                </a:solidFill>
                <a:latin typeface="Roboto"/>
              </a:rPr>
              <a:t>"Turn any camera into an intelligent sensor with real-time analytics and no specialized hardware burden."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>
                <a:solidFill>
                  <a:srgbClr val="374151"/>
                </a:solidFill>
                <a:latin typeface="Roboto"/>
              </a:rPr>
              <a:t>• Turn IP, WiFi, and mobile cameras into intelligent machine-vision nodes.</a:t>
            </a:r>
            <a:br/>
            <a:r>
              <a:rPr sz="1500">
                <a:solidFill>
                  <a:srgbClr val="374151"/>
                </a:solidFill>
                <a:latin typeface="Roboto"/>
              </a:rPr>
              <a:t>Run face detection, people counting, demographics, and route tracking on-device.</a:t>
            </a:r>
            <a:br/>
            <a:r>
              <a:rPr sz="1500">
                <a:solidFill>
                  <a:srgbClr val="374151"/>
                </a:solidFill>
                <a:latin typeface="Roboto"/>
              </a:rPr>
              <a:t>Scale from a single lens to a facility-wide mesh without changing platform logic.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Roboto"/>
              </a:rPr>
              <a:t>Eyenet Vision  |  Functionalities Presentation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1274552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73152" cy="1188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53312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F46E5"/>
                </a:solidFill>
                <a:latin typeface="Roboto"/>
              </a:rPr>
              <a:t>"deploy faster with no complex multi-sensor setup burden, run on everyday open hardware instead of locked camera ecosystems"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1064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>
                <a:solidFill>
                  <a:srgbClr val="374151"/>
                </a:solidFill>
                <a:latin typeface="Roboto"/>
              </a:rPr>
              <a:t>• Works with everyday cameras and standard compute hardware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374151"/>
                </a:solidFill>
                <a:latin typeface="Roboto"/>
              </a:rPr>
              <a:t>• Supports mixed hardware generations across store estates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374151"/>
                </a:solidFill>
                <a:latin typeface="Roboto"/>
              </a:rPr>
              <a:t>• Avoids lock-in to closed camera vendors and proprietary appliance chains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374151"/>
                </a:solidFill>
                <a:latin typeface="Roboto"/>
              </a:rPr>
              <a:t>• Simplifies deployment architecture for demographic-aware signage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374151"/>
                </a:solidFill>
                <a:latin typeface="Roboto"/>
              </a:rPr>
              <a:t>• Enables staged rollout instead of full-store replacement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374151"/>
                </a:solidFill>
                <a:latin typeface="Roboto"/>
              </a:rPr>
              <a:t>• Lower replacement risk when device vendors change strategy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5653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Roboto"/>
              </a:rPr>
              <a:t>Eyenet Vision  |  Technology Retail Pitch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 i="0">
                <a:solidFill>
                  <a:srgbClr val="FFFFFF"/>
                </a:solidFill>
                <a:latin typeface="Roboto"/>
              </a:rPr>
              <a:t>Operational Coverage and Safety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0" i="0">
                <a:solidFill>
                  <a:srgbClr val="4F46E5"/>
                </a:solidFill>
                <a:latin typeface="Roboto"/>
              </a:rPr>
              <a:t>Track human activity, regulate access, and protect restricted zones</a:t>
            </a:r>
          </a:p>
          <a:p>
            <a:r>
              <a:rPr sz="1700" b="0" i="0">
                <a:solidFill>
                  <a:srgbClr val="4F46E5"/>
                </a:solidFill>
                <a:latin typeface="Roboto"/>
              </a:rPr>
              <a:t>"Replace manual checks with always-on monitoring that counts, alerts, and documents events automatically."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>
                <a:solidFill>
                  <a:srgbClr val="374151"/>
                </a:solidFill>
                <a:latin typeface="Roboto"/>
              </a:rPr>
              <a:t>• Real-time people tracking, attendance, route analysis, and dwell-time mapping.</a:t>
            </a:r>
            <a:br/>
            <a:r>
              <a:rPr sz="1500">
                <a:solidFill>
                  <a:srgbClr val="374151"/>
                </a:solidFill>
                <a:latin typeface="Roboto"/>
              </a:rPr>
              <a:t>Automatic headcount, checkpoint oversight, and unauthorized-access alerts.</a:t>
            </a:r>
            <a:br/>
            <a:r>
              <a:rPr sz="1500">
                <a:solidFill>
                  <a:srgbClr val="374151"/>
                </a:solidFill>
                <a:latin typeface="Roboto"/>
              </a:rPr>
              <a:t>Virtual perimeters, lone-worker monitoring, PPE checks, and incident documentation.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Roboto"/>
              </a:rPr>
              <a:t>Eyenet Vision  |  Functionalities Presentation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1274552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73152" cy="1188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53312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F46E5"/>
                </a:solidFill>
                <a:latin typeface="Roboto"/>
              </a:rPr>
              <a:t>"operate signage from big wall screens and entrance LED panels down to single tabletop laptops"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1064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>
                <a:solidFill>
                  <a:srgbClr val="374151"/>
                </a:solidFill>
                <a:latin typeface="Roboto"/>
              </a:rPr>
              <a:t>• Big wall displays — hero product narratives and brand campaigns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374151"/>
                </a:solidFill>
                <a:latin typeface="Roboto"/>
              </a:rPr>
              <a:t>• Entrance LED panels — dynamic campaign hooks at the door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374151"/>
                </a:solidFill>
                <a:latin typeface="Roboto"/>
              </a:rPr>
              <a:t>• Mid-store digital screens — zone-specific promotions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374151"/>
                </a:solidFill>
                <a:latin typeface="Roboto"/>
              </a:rPr>
              <a:t>• Counter displays — assisted selling and targeted offers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374151"/>
                </a:solidFill>
                <a:latin typeface="Roboto"/>
              </a:rPr>
              <a:t>• Single tabletop laptops — zero-infrastructure endpoint option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374151"/>
                </a:solidFill>
                <a:latin typeface="Roboto"/>
              </a:rPr>
              <a:t>• Same campaign logic delivered across all endpoint types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5653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Roboto"/>
              </a:rPr>
              <a:t>Eyenet Vision  |  Technology Retail Pitch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 i="0">
                <a:solidFill>
                  <a:srgbClr val="FFFFFF"/>
                </a:solidFill>
                <a:latin typeface="Roboto"/>
              </a:rPr>
              <a:t>Audience-Aware Automation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0" i="0">
                <a:solidFill>
                  <a:srgbClr val="4F46E5"/>
                </a:solidFill>
                <a:latin typeface="Roboto"/>
              </a:rPr>
              <a:t>Drive digital signage and workflows from live vision events</a:t>
            </a:r>
          </a:p>
          <a:p>
            <a:r>
              <a:rPr sz="1700" b="0" i="0">
                <a:solidFill>
                  <a:srgbClr val="4F46E5"/>
                </a:solidFill>
                <a:latin typeface="Roboto"/>
              </a:rPr>
              <a:t>"Cameras read the room and trigger content, notifications, and third-party actions in milliseconds."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>
                <a:solidFill>
                  <a:srgbClr val="374151"/>
                </a:solidFill>
                <a:latin typeface="Roboto"/>
              </a:rPr>
              <a:t>• Switch playlists, promotions, and emergency messages based on age, gender, group size, and behavior.</a:t>
            </a:r>
            <a:br/>
            <a:r>
              <a:rPr sz="1500">
                <a:solidFill>
                  <a:srgbClr val="374151"/>
                </a:solidFill>
                <a:latin typeface="Roboto"/>
              </a:rPr>
              <a:t>Configure per-camera triggers with configurable conditions and AND/OR logic.</a:t>
            </a:r>
            <a:br/>
            <a:r>
              <a:rPr sz="1500">
                <a:solidFill>
                  <a:srgbClr val="374151"/>
                </a:solidFill>
                <a:latin typeface="Roboto"/>
              </a:rPr>
              <a:t>Measure impressions, dwell time, and engagement to prove signage ROI.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Roboto"/>
              </a:rPr>
              <a:t>Eyenet Vision  |  Functionalities Presentation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1274552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73152" cy="1188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53312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F46E5"/>
                </a:solidFill>
                <a:latin typeface="Roboto"/>
              </a:rPr>
              <a:t>"remove the operational burden of bulky, rigid booth models"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1064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>
                <a:solidFill>
                  <a:srgbClr val="374151"/>
                </a:solidFill>
                <a:latin typeface="Roboto"/>
              </a:rPr>
              <a:t>• Marketing teams no longer trapped in fixed kiosk/booth models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374151"/>
                </a:solidFill>
                <a:latin typeface="Roboto"/>
              </a:rPr>
              <a:t>• Campaigns can be changed without infrastructure redesign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374151"/>
                </a:solidFill>
                <a:latin typeface="Roboto"/>
              </a:rPr>
              <a:t>• Faster campaign updates without rebuilding physical layouts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374151"/>
                </a:solidFill>
                <a:latin typeface="Roboto"/>
              </a:rPr>
              <a:t>• Less physical reconfiguration for new promotions or launches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374151"/>
                </a:solidFill>
                <a:latin typeface="Roboto"/>
              </a:rPr>
              <a:t>• Better support for seasonal and launch-driven retail cadence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374151"/>
                </a:solidFill>
                <a:latin typeface="Roboto"/>
              </a:rPr>
              <a:t>• Lower capex pressure when scaling to new store zones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5653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Roboto"/>
              </a:rPr>
              <a:t>Eyenet Vision  |  Technology Retail Pitch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 i="0">
                <a:solidFill>
                  <a:srgbClr val="FFFFFF"/>
                </a:solidFill>
                <a:latin typeface="Roboto"/>
              </a:rPr>
              <a:t>Advanced Protection Use Cases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0" i="0">
                <a:solidFill>
                  <a:srgbClr val="4F46E5"/>
                </a:solidFill>
                <a:latin typeface="Roboto"/>
              </a:rPr>
              <a:t>Control entry points, restricted areas, VIP coverage, and remote operations</a:t>
            </a:r>
          </a:p>
          <a:p>
            <a:r>
              <a:rPr sz="1700" b="0" i="0">
                <a:solidFill>
                  <a:srgbClr val="4F46E5"/>
                </a:solidFill>
                <a:latin typeface="Roboto"/>
              </a:rPr>
              <a:t>"One platform coordinates access control, perimeter alerts, VIP recognition, and remote supervision."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>
                <a:solidFill>
                  <a:srgbClr val="374151"/>
                </a:solidFill>
                <a:latin typeface="Roboto"/>
              </a:rPr>
              <a:t>• Protect entrances, gates, and checkpoints with identity awareness and audit trails.</a:t>
            </a:r>
            <a:br/>
            <a:r>
              <a:rPr sz="1500">
                <a:solidFill>
                  <a:srgbClr val="374151"/>
                </a:solidFill>
                <a:latin typeface="Roboto"/>
              </a:rPr>
              <a:t>Stream person-of-interest alerts to security eyewear and mobile devices.</a:t>
            </a:r>
            <a:br/>
            <a:r>
              <a:rPr sz="1500">
                <a:solidFill>
                  <a:srgbClr val="374151"/>
                </a:solidFill>
                <a:latin typeface="Roboto"/>
              </a:rPr>
              <a:t>Manage every camera, trigger, and dashboard remotely from web or mobile with no cloud video dependency.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Roboto"/>
              </a:rPr>
              <a:t>Eyenet Vision  |  Functionalities Presentation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1274552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73152" cy="1188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53312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F46E5"/>
                </a:solidFill>
                <a:latin typeface="Roboto"/>
              </a:rPr>
              <a:t>"manage campaigns from anywhere using any device via web dashboard and mobile apps"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1064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>
                <a:solidFill>
                  <a:srgbClr val="374151"/>
                </a:solidFill>
                <a:latin typeface="Roboto"/>
              </a:rPr>
              <a:t>• Owners, marketing teams, and managers access operations remotely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374151"/>
                </a:solidFill>
                <a:latin typeface="Roboto"/>
              </a:rPr>
              <a:t>• Any device supported: desktop, tablet, or smartphone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374151"/>
                </a:solidFill>
                <a:latin typeface="Roboto"/>
              </a:rPr>
              <a:t>• Teams stay operational without being tied to in-store control stations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374151"/>
                </a:solidFill>
                <a:latin typeface="Roboto"/>
              </a:rPr>
              <a:t>• Campaign uploads, endpoint assignments, and scheduling from any location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374151"/>
                </a:solidFill>
                <a:latin typeface="Roboto"/>
              </a:rPr>
              <a:t>• Faster response to floor-level changes or urgent campaign needs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5653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Roboto"/>
              </a:rPr>
              <a:t>Eyenet Vision  |  Technology Retail Pitch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 i="0">
                <a:solidFill>
                  <a:srgbClr val="FFFFFF"/>
                </a:solidFill>
                <a:latin typeface="Roboto"/>
              </a:rPr>
              <a:t>Instant Deployment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0" i="0">
                <a:solidFill>
                  <a:srgbClr val="4F46E5"/>
                </a:solidFill>
                <a:latin typeface="Roboto"/>
              </a:rPr>
              <a:t>Get started quickly on everyday hardware</a:t>
            </a:r>
          </a:p>
          <a:p>
            <a:r>
              <a:rPr sz="1700" b="0" i="0">
                <a:solidFill>
                  <a:srgbClr val="4F46E5"/>
                </a:solidFill>
                <a:latin typeface="Roboto"/>
              </a:rPr>
              <a:t>"Deploy with standard compute, no forced GPU servers, and no per-camera licensing ceiling."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>
                <a:solidFill>
                  <a:srgbClr val="374151"/>
                </a:solidFill>
                <a:latin typeface="Roboto"/>
              </a:rPr>
              <a:t>• Start with 16 GB RAM and a modern CPU using cameras you already own.</a:t>
            </a:r>
            <a:br/>
            <a:r>
              <a:rPr sz="1500">
                <a:solidFill>
                  <a:srgbClr val="374151"/>
                </a:solidFill>
                <a:latin typeface="Roboto"/>
              </a:rPr>
              <a:t>Bring the first detection online in minutes from IP, WiFi, or phone-based cameras.</a:t>
            </a:r>
            <a:br/>
            <a:r>
              <a:rPr sz="1500">
                <a:solidFill>
                  <a:srgbClr val="374151"/>
                </a:solidFill>
                <a:latin typeface="Roboto"/>
              </a:rPr>
              <a:t>Expand from one room to multi-site estates without redesigning the architecture.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Roboto"/>
              </a:rPr>
              <a:t>Eyenet Vision  |  Functionalities Presentation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1274552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73152" cy="1188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53312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F46E5"/>
                </a:solidFill>
                <a:latin typeface="Roboto"/>
              </a:rPr>
              <a:t>"monitor guest engagement in real time and adjust content on the fly"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1064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>
                <a:solidFill>
                  <a:srgbClr val="374151"/>
                </a:solidFill>
                <a:latin typeface="Roboto"/>
              </a:rPr>
              <a:t>• Live monitoring of guest engagement while campaigns are running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374151"/>
                </a:solidFill>
                <a:latin typeface="Roboto"/>
              </a:rPr>
              <a:t>• Real-time campaign adjustments without physical intervention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374151"/>
                </a:solidFill>
                <a:latin typeface="Roboto"/>
              </a:rPr>
              <a:t>• Faster campaign launch cycles — upload video, assign endpoint, go live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374151"/>
                </a:solidFill>
                <a:latin typeface="Roboto"/>
              </a:rPr>
              <a:t>• Central reporting accessible from any device by managers and decision makers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374151"/>
                </a:solidFill>
                <a:latin typeface="Roboto"/>
              </a:rPr>
              <a:t>• Unified performance visibility across all stores and zones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374151"/>
                </a:solidFill>
                <a:latin typeface="Roboto"/>
              </a:rPr>
              <a:t>• Faster decision cycles for budget and campaign optimization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5653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Roboto"/>
              </a:rPr>
              <a:t>Eyenet Vision  |  Technology Retail Pitch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 i="0">
                <a:solidFill>
                  <a:srgbClr val="FFFFFF"/>
                </a:solidFill>
                <a:latin typeface="Roboto"/>
              </a:rPr>
              <a:t>Key Differentiators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0" i="0">
                <a:solidFill>
                  <a:srgbClr val="4F46E5"/>
                </a:solidFill>
                <a:latin typeface="Roboto"/>
              </a:rPr>
              <a:t>"A privacy-first machine-vision platform designed for owner control, flexible automation, and practical scale."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>
                <a:solidFill>
                  <a:srgbClr val="374151"/>
                </a:solidFill>
                <a:latin typeface="Roboto"/>
              </a:rPr>
              <a:t>• ✓</a:t>
            </a:r>
          </a:p>
          <a:p>
            <a:r>
              <a:rPr sz="1500">
                <a:solidFill>
                  <a:srgbClr val="374151"/>
                </a:solidFill>
                <a:latin typeface="Roboto"/>
              </a:rPr>
              <a:t>• Offline-capable operation without internet dependency.</a:t>
            </a:r>
          </a:p>
          <a:p>
            <a:r>
              <a:rPr sz="1500">
                <a:solidFill>
                  <a:srgbClr val="374151"/>
                </a:solidFill>
                <a:latin typeface="Roboto"/>
              </a:rPr>
              <a:t>• ✓</a:t>
            </a:r>
          </a:p>
          <a:p>
            <a:r>
              <a:rPr sz="1500">
                <a:solidFill>
                  <a:srgbClr val="374151"/>
                </a:solidFill>
                <a:latin typeface="Roboto"/>
              </a:rPr>
              <a:t>• Scales from one camera to enterprise-wide deployments.</a:t>
            </a:r>
          </a:p>
          <a:p>
            <a:r>
              <a:rPr sz="1500">
                <a:solidFill>
                  <a:srgbClr val="374151"/>
                </a:solidFill>
                <a:latin typeface="Roboto"/>
              </a:rPr>
              <a:t>• ✓</a:t>
            </a:r>
          </a:p>
          <a:p>
            <a:r>
              <a:rPr sz="1500">
                <a:solidFill>
                  <a:srgbClr val="374151"/>
                </a:solidFill>
                <a:latin typeface="Roboto"/>
              </a:rPr>
              <a:t>• Secure by design with encryption, access control, and VPN-ready connectivity.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Roboto"/>
              </a:rPr>
              <a:t>Eyenet Vision  |  Functionalities Presentation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1274552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73152" cy="1188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53312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F46E5"/>
                </a:solidFill>
                <a:latin typeface="Roboto"/>
              </a:rPr>
              <a:t>"give every stakeholder — owner, manager, marketer, IT — their own role-based view"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1064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>
                <a:solidFill>
                  <a:srgbClr val="374151"/>
                </a:solidFill>
                <a:latin typeface="Roboto"/>
              </a:rPr>
              <a:t>• Owners: business KPIs and strategic performance summaries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374151"/>
                </a:solidFill>
                <a:latin typeface="Roboto"/>
              </a:rPr>
              <a:t>• Marketing teams: campaign metrics and engagement analytics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374151"/>
                </a:solidFill>
                <a:latin typeface="Roboto"/>
              </a:rPr>
              <a:t>• Technical teams: system health and operational status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374151"/>
                </a:solidFill>
                <a:latin typeface="Roboto"/>
              </a:rPr>
              <a:t>• Regional managers: cross-store performance comparisons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374151"/>
                </a:solidFill>
                <a:latin typeface="Roboto"/>
              </a:rPr>
              <a:t>• Sales associates: context-ready display support for consultative selling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374151"/>
                </a:solidFill>
                <a:latin typeface="Roboto"/>
              </a:rPr>
              <a:t>• Custom dashboard configuration per enterprise client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5653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Roboto"/>
              </a:rPr>
              <a:t>Eyenet Vision  |  Technology Retail Pitch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 i="0">
                <a:solidFill>
                  <a:srgbClr val="FFFFFF"/>
                </a:solidFill>
                <a:latin typeface="Roboto"/>
              </a:rPr>
              <a:t>Core Platform Functionalities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0" i="0">
                <a:solidFill>
                  <a:srgbClr val="4F46E5"/>
                </a:solidFill>
                <a:latin typeface="Roboto"/>
              </a:rPr>
              <a:t>"The platform combines computer vision, hardware integration, triggers, media handling, and communications into one operating layer."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>
                <a:solidFill>
                  <a:srgbClr val="374151"/>
                </a:solidFill>
                <a:latin typeface="Roboto"/>
              </a:rPr>
              <a:t>• Computer Vision, Cameras, Triggers:</a:t>
            </a:r>
          </a:p>
          <a:p>
            <a:r>
              <a:rPr sz="1500">
                <a:solidFill>
                  <a:srgbClr val="374151"/>
                </a:solidFill>
                <a:latin typeface="Roboto"/>
              </a:rPr>
              <a:t>• People analytics: tracking, counting, attendance, route analysis, and demographics.</a:t>
            </a:r>
            <a:br/>
            <a:r>
              <a:rPr sz="1500">
                <a:solidFill>
                  <a:srgbClr val="374151"/>
                </a:solidFill>
                <a:latin typeface="Roboto"/>
              </a:rPr>
              <a:t>Multi-source camera support across IP, WiFi, and mobile soft cameras.</a:t>
            </a:r>
            <a:br/>
            <a:r>
              <a:rPr sz="1500">
                <a:solidFill>
                  <a:srgbClr val="374151"/>
                </a:solidFill>
                <a:latin typeface="Roboto"/>
              </a:rPr>
              <a:t>Per-camera trigger configuration with real-time event detection and complex condition logic.</a:t>
            </a:r>
            <a:br/>
            <a:r>
              <a:rPr sz="1500">
                <a:solidFill>
                  <a:srgbClr val="374151"/>
                </a:solidFill>
                <a:latin typeface="Roboto"/>
              </a:rPr>
              <a:t>Automated actions across push, in-app, email, SMS, signage, and webhooks.</a:t>
            </a:r>
          </a:p>
          <a:p>
            <a:r>
              <a:rPr sz="1500">
                <a:solidFill>
                  <a:srgbClr val="374151"/>
                </a:solidFill>
                <a:latin typeface="Roboto"/>
              </a:rPr>
              <a:t>• Video, Data, and Communications:</a:t>
            </a:r>
          </a:p>
          <a:p>
            <a:r>
              <a:rPr sz="1500">
                <a:solidFill>
                  <a:srgbClr val="374151"/>
                </a:solidFill>
                <a:latin typeface="Roboto"/>
              </a:rPr>
              <a:t>• Local video storage and processing with no mandatory cloud services.</a:t>
            </a:r>
            <a:br/>
            <a:r>
              <a:rPr sz="1500">
                <a:solidFill>
                  <a:srgbClr val="374151"/>
                </a:solidFill>
                <a:latin typeface="Roboto"/>
              </a:rPr>
              <a:t>Intelligent communications with audit logging and delivery tracking.</a:t>
            </a:r>
            <a:br/>
            <a:r>
              <a:rPr sz="1500">
                <a:solidFill>
                  <a:srgbClr val="374151"/>
                </a:solidFill>
                <a:latin typeface="Roboto"/>
              </a:rPr>
              <a:t>Real-time dashboards, historical analytics, behavioral patterns, and reporting.</a:t>
            </a:r>
            <a:br/>
            <a:r>
              <a:rPr sz="1500">
                <a:solidFill>
                  <a:srgbClr val="374151"/>
                </a:solidFill>
                <a:latin typeface="Roboto"/>
              </a:rPr>
              <a:t>Operational resilience with internet optional except for selected remote notifications.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Roboto"/>
              </a:rPr>
              <a:t>Eyenet Vision  |  Functionalities Presentation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1274552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73152" cy="1188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53312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F46E5"/>
                </a:solidFill>
                <a:latin typeface="Roboto"/>
              </a:rPr>
              <a:t>"run multi-camera analytics decoupled from signage points for full store intelligence"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1064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>
                <a:solidFill>
                  <a:srgbClr val="374151"/>
                </a:solidFill>
                <a:latin typeface="Roboto"/>
              </a:rPr>
              <a:t>• Multiple camera points per installation, independent of signage cameras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374151"/>
                </a:solidFill>
                <a:latin typeface="Roboto"/>
              </a:rPr>
              <a:t>• Analytics coverage and signage coverage designed separately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374151"/>
                </a:solidFill>
                <a:latin typeface="Roboto"/>
              </a:rPr>
              <a:t>• Better flexibility in store layout and camera planning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374151"/>
                </a:solidFill>
                <a:latin typeface="Roboto"/>
              </a:rPr>
              <a:t>• Scalable expansion without redesigning signage hardware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374151"/>
                </a:solidFill>
                <a:latin typeface="Roboto"/>
              </a:rPr>
              <a:t>• Edge-capable: local processing options for resilience and privacy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374151"/>
                </a:solidFill>
                <a:latin typeface="Roboto"/>
              </a:rPr>
              <a:t>• Modular scaling: start with one zone, expand store-wide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5653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Roboto"/>
              </a:rPr>
              <a:t>Eyenet Vision  |  Technology Retail Pitch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 i="0">
                <a:solidFill>
                  <a:srgbClr val="FFFFFF"/>
                </a:solidFill>
                <a:latin typeface="Roboto"/>
              </a:rPr>
              <a:t>Architecture, Security, and Scale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0" i="0">
                <a:solidFill>
                  <a:srgbClr val="4F46E5"/>
                </a:solidFill>
                <a:latin typeface="Roboto"/>
              </a:rPr>
              <a:t>"Eyenet is engineered as an edge-capable microservices platform that preserves control while scaling across sites and stakeholders."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>
                <a:solidFill>
                  <a:srgbClr val="374151"/>
                </a:solidFill>
                <a:latin typeface="Roboto"/>
              </a:rPr>
              <a:t>• Deployment and Governance:</a:t>
            </a:r>
          </a:p>
          <a:p>
            <a:r>
              <a:rPr sz="1500">
                <a:solidFill>
                  <a:srgbClr val="374151"/>
                </a:solidFill>
                <a:latin typeface="Roboto"/>
              </a:rPr>
              <a:t>• On-premises and edge deployment with modular microservices and automatic service discovery.</a:t>
            </a:r>
            <a:br/>
            <a:r>
              <a:rPr sz="1500">
                <a:solidFill>
                  <a:srgbClr val="374151"/>
                </a:solidFill>
                <a:latin typeface="Roboto"/>
              </a:rPr>
              <a:t>Role-based access, file-level encryption, private VPN support, and full data sovereignty.</a:t>
            </a:r>
            <a:br/>
            <a:r>
              <a:rPr sz="1500">
                <a:solidFill>
                  <a:srgbClr val="374151"/>
                </a:solidFill>
                <a:latin typeface="Roboto"/>
              </a:rPr>
              <a:t>Remote diagnostics, centralized logging, audit trails, and trigger execution debugging.</a:t>
            </a:r>
          </a:p>
          <a:p>
            <a:r>
              <a:rPr sz="1500">
                <a:solidFill>
                  <a:srgbClr val="374151"/>
                </a:solidFill>
                <a:latin typeface="Roboto"/>
              </a:rPr>
              <a:t>• Scalability and Extensibility:</a:t>
            </a:r>
          </a:p>
          <a:p>
            <a:r>
              <a:rPr sz="1500">
                <a:solidFill>
                  <a:srgbClr val="374151"/>
                </a:solidFill>
                <a:latin typeface="Roboto"/>
              </a:rPr>
              <a:t>• Flexible scaling from homes to industrial sites with hardware-based performance growth.</a:t>
            </a:r>
            <a:br/>
            <a:r>
              <a:rPr sz="1500">
                <a:solidFill>
                  <a:srgbClr val="374151"/>
                </a:solidFill>
                <a:latin typeface="Roboto"/>
              </a:rPr>
              <a:t>Unlimited camera support subject to available hardware capacity.</a:t>
            </a:r>
            <a:br/>
            <a:r>
              <a:rPr sz="1500">
                <a:solidFill>
                  <a:srgbClr val="374151"/>
                </a:solidFill>
                <a:latin typeface="Roboto"/>
              </a:rPr>
              <a:t>Extensible integrations through REST APIs, webhooks, custom connectors, and signage modules.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Roboto"/>
              </a:rPr>
              <a:t>Eyenet Vision  |  Functionalities Presentation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1274552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73152" cy="1188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53312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F46E5"/>
                </a:solidFill>
                <a:latin typeface="Roboto"/>
              </a:rPr>
              <a:t>"understand audiences through age and gender distributions, proximity heatmaps, and individual-level engagement data"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1064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>
                <a:solidFill>
                  <a:srgbClr val="374151"/>
                </a:solidFill>
                <a:latin typeface="Roboto"/>
              </a:rPr>
              <a:t>• Age and gender distribution analytics across store zones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374151"/>
                </a:solidFill>
                <a:latin typeface="Roboto"/>
              </a:rPr>
              <a:t>• Proximity heatmaps showing customer movement and dwell concentration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374151"/>
                </a:solidFill>
                <a:latin typeface="Roboto"/>
              </a:rPr>
              <a:t>• Granular engagement insights down to individual-level events*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374151"/>
                </a:solidFill>
                <a:latin typeface="Roboto"/>
              </a:rPr>
              <a:t>• Combined analytics from both signage and analytics camera types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374151"/>
                </a:solidFill>
                <a:latin typeface="Roboto"/>
              </a:rPr>
              <a:t>• More accurate audience understanding for campaign targeting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374151"/>
                </a:solidFill>
                <a:latin typeface="Roboto"/>
              </a:rPr>
              <a:t>• Stronger evidence for ROI and merchandising decisions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374151"/>
                </a:solidFill>
                <a:latin typeface="Roboto"/>
              </a:rPr>
              <a:t>• * Subject to local legal and privacy requirements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5653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Roboto"/>
              </a:rPr>
              <a:t>Eyenet Vision  |  Technology Retail Pitch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 i="0">
                <a:solidFill>
                  <a:srgbClr val="FFFFFF"/>
                </a:solidFill>
                <a:latin typeface="Roboto"/>
              </a:rPr>
              <a:t>Technical Architecture Highlights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0" i="0">
                <a:solidFill>
                  <a:srgbClr val="4F46E5"/>
                </a:solidFill>
                <a:latin typeface="Roboto"/>
              </a:rPr>
              <a:t>"Trigger evaluation, orchestration, and context awareness are first-class capabilities rather than bolt-on automation."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>
                <a:solidFill>
                  <a:srgbClr val="374151"/>
                </a:solidFill>
                <a:latin typeface="Roboto"/>
              </a:rPr>
              <a:t>• Trigger and Action System:</a:t>
            </a:r>
          </a:p>
          <a:p>
            <a:r>
              <a:rPr sz="1500">
                <a:solidFill>
                  <a:srgbClr val="374151"/>
                </a:solidFill>
                <a:latin typeface="Roboto"/>
              </a:rPr>
              <a:t>• Granular per-camera rule configuration.</a:t>
            </a:r>
            <a:br/>
            <a:r>
              <a:rPr sz="1500">
                <a:solidFill>
                  <a:srgbClr val="374151"/>
                </a:solidFill>
                <a:latin typeface="Roboto"/>
              </a:rPr>
              <a:t>Instant event evaluation against configured conditions.</a:t>
            </a:r>
            <a:br/>
            <a:r>
              <a:rPr sz="1500">
                <a:solidFill>
                  <a:srgbClr val="374151"/>
                </a:solidFill>
                <a:latin typeface="Roboto"/>
              </a:rPr>
              <a:t>Reliable action delivery with retry logic and failure tracking.</a:t>
            </a:r>
            <a:br/>
            <a:r>
              <a:rPr sz="1500">
                <a:solidFill>
                  <a:srgbClr val="374151"/>
                </a:solidFill>
                <a:latin typeface="Roboto"/>
              </a:rPr>
              <a:t>Complete audit trail for activations and executions.</a:t>
            </a:r>
          </a:p>
          <a:p>
            <a:r>
              <a:rPr sz="1500">
                <a:solidFill>
                  <a:srgbClr val="374151"/>
                </a:solidFill>
                <a:latin typeface="Roboto"/>
              </a:rPr>
              <a:t>• Context and Signage Intelligence:</a:t>
            </a:r>
          </a:p>
          <a:p>
            <a:r>
              <a:rPr sz="1500">
                <a:solidFill>
                  <a:srgbClr val="374151"/>
                </a:solidFill>
                <a:latin typeface="Roboto"/>
              </a:rPr>
              <a:t>• Time, day, occupancy, demographics, velocity, direction, and trajectory-aware triggers.</a:t>
            </a:r>
            <a:br/>
            <a:r>
              <a:rPr sz="1500">
                <a:solidFill>
                  <a:srgbClr val="374151"/>
                </a:solidFill>
                <a:latin typeface="Roboto"/>
              </a:rPr>
              <a:t>Historical comparison and multi-camera correlation across zones.</a:t>
            </a:r>
            <a:br/>
            <a:r>
              <a:rPr sz="1500">
                <a:solidFill>
                  <a:srgbClr val="374151"/>
                </a:solidFill>
                <a:latin typeface="Roboto"/>
              </a:rPr>
              <a:t>Dynamic signage content switching, demographic targeting, and playlist automation.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Roboto"/>
              </a:rPr>
              <a:t>Eyenet Vision  |  Functionalities Presentation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1274552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73152" cy="1188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53312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F46E5"/>
                </a:solidFill>
                <a:latin typeface="Roboto"/>
              </a:rPr>
              <a:t>"deploy faster with no complex multi-sensor setup burden, run on everyday open hardware instead of locked camera ecosystems"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1064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>
                <a:solidFill>
                  <a:srgbClr val="374151"/>
                </a:solidFill>
                <a:latin typeface="Roboto"/>
              </a:rPr>
              <a:t>• Works with everyday cameras and standard compute hardware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374151"/>
                </a:solidFill>
                <a:latin typeface="Roboto"/>
              </a:rPr>
              <a:t>• Supports mixed hardware generations across store estates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374151"/>
                </a:solidFill>
                <a:latin typeface="Roboto"/>
              </a:rPr>
              <a:t>• Avoids lock-in to closed camera vendors and proprietary appliance chains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374151"/>
                </a:solidFill>
                <a:latin typeface="Roboto"/>
              </a:rPr>
              <a:t>• Simplifies deployment architecture for demographic-aware signage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374151"/>
                </a:solidFill>
                <a:latin typeface="Roboto"/>
              </a:rPr>
              <a:t>• Enables staged rollout instead of full-store replacement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374151"/>
                </a:solidFill>
                <a:latin typeface="Roboto"/>
              </a:rPr>
              <a:t>• Lower replacement risk when device vendors change strategy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5653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Roboto"/>
              </a:rPr>
              <a:t>Eyenet Vision  |  Technology Retail Pitch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F51B5"/>
                </a:solidFill>
              </a:defRPr>
            </a:pPr>
            <a:r>
              <a:rPr sz="2400" b="1" i="0">
                <a:solidFill>
                  <a:srgbClr val="374151"/>
                </a:solidFill>
                <a:latin typeface="Roboto"/>
              </a:rPr>
              <a:t>Eyenet in Action — Operations and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rPr sz="1400" b="0" i="0">
                <a:solidFill>
                  <a:srgbClr val="94A3B8"/>
                </a:solidFill>
                <a:latin typeface="Roboto"/>
              </a:rPr>
              <a:t>"Representative screenshots from the live platform UX included in the functionalities document."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26212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 i="0">
                <a:solidFill>
                  <a:srgbClr val="374151"/>
                </a:solidFill>
                <a:latin typeface="Roboto"/>
              </a:rPr>
              <a:t>Main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46120"/>
            <a:ext cx="262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rPr sz="1200" b="0" i="0">
                <a:solidFill>
                  <a:srgbClr val="374151"/>
                </a:solidFill>
                <a:latin typeface="Roboto"/>
              </a:rPr>
              <a:t>Analytics Filters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61360" y="1280160"/>
            <a:ext cx="26212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 i="0">
                <a:solidFill>
                  <a:srgbClr val="374151"/>
                </a:solidFill>
                <a:latin typeface="Roboto"/>
              </a:rPr>
              <a:t>System Settings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61360" y="3246120"/>
            <a:ext cx="262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rPr sz="1200" b="0" i="0">
                <a:solidFill>
                  <a:srgbClr val="374151"/>
                </a:solidFill>
                <a:latin typeface="Roboto"/>
              </a:rPr>
              <a:t>Analytics Dashboard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65520" y="1280160"/>
            <a:ext cx="26212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 i="0">
                <a:solidFill>
                  <a:srgbClr val="374151"/>
                </a:solidFill>
                <a:latin typeface="Roboto"/>
              </a:rPr>
              <a:t>Detection Analytics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65520" y="3246120"/>
            <a:ext cx="262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rPr sz="1200" b="0" i="0">
                <a:solidFill>
                  <a:srgbClr val="374151"/>
                </a:solidFill>
                <a:latin typeface="Roboto"/>
              </a:rPr>
              <a:t>Camera Management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794760"/>
            <a:ext cx="26212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 i="0">
                <a:solidFill>
                  <a:srgbClr val="374151"/>
                </a:solidFill>
                <a:latin typeface="Roboto"/>
              </a:rPr>
              <a:t>Eyenet Vision  |  Functionalities Presentation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760720"/>
            <a:ext cx="262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Digital Signage 01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61360" y="3794760"/>
            <a:ext cx="26212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61360" y="5760720"/>
            <a:ext cx="262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Signage Android App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65520" y="3794760"/>
            <a:ext cx="26212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65520" y="5760720"/>
            <a:ext cx="262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Soft Camera 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999999"/>
                </a:solidFill>
              </a:defRPr>
            </a:pPr>
            <a:r>
              <a:t>Eyenet Vision  |  Technology Retail Pitch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1552538"/>
            <a:ext cx="2438400" cy="1421204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52800" y="1552538"/>
            <a:ext cx="2438400" cy="1421204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56960" y="1552538"/>
            <a:ext cx="2438400" cy="1421204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8640" y="4067138"/>
            <a:ext cx="2438400" cy="1421204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52800" y="4229100"/>
            <a:ext cx="2438400" cy="109728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74967" y="3886200"/>
            <a:ext cx="802385" cy="17830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F51B5"/>
                </a:solidFill>
              </a:defRPr>
            </a:pPr>
            <a:r>
              <a:rPr sz="2400" b="1" i="0">
                <a:solidFill>
                  <a:srgbClr val="374151"/>
                </a:solidFill>
                <a:latin typeface="Roboto"/>
              </a:rPr>
              <a:t>Eyenet in Action — Automation and Media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rPr sz="1400" b="0" i="0">
                <a:solidFill>
                  <a:srgbClr val="94A3B8"/>
                </a:solidFill>
                <a:latin typeface="Roboto"/>
              </a:rPr>
              <a:t>"Workflow and endpoint views covering trigger orchestration, signage, media, and playback operations."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26212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 i="0">
                <a:solidFill>
                  <a:srgbClr val="374151"/>
                </a:solidFill>
                <a:latin typeface="Roboto"/>
              </a:rPr>
              <a:t>Triggers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46120"/>
            <a:ext cx="262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rPr sz="1200" b="0" i="0">
                <a:solidFill>
                  <a:srgbClr val="374151"/>
                </a:solidFill>
                <a:latin typeface="Roboto"/>
              </a:rPr>
              <a:t>Actions Editor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3261360" y="1280160"/>
            <a:ext cx="26212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 i="0">
                <a:solidFill>
                  <a:srgbClr val="374151"/>
                </a:solidFill>
                <a:latin typeface="Roboto"/>
              </a:rPr>
              <a:t>Digital Signage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61360" y="3246120"/>
            <a:ext cx="262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rPr sz="1200" b="0" i="0">
                <a:solidFill>
                  <a:srgbClr val="374151"/>
                </a:solidFill>
                <a:latin typeface="Roboto"/>
              </a:rPr>
              <a:t>MVR Group Details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65520" y="1280160"/>
            <a:ext cx="26212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 i="0">
                <a:solidFill>
                  <a:srgbClr val="374151"/>
                </a:solidFill>
                <a:latin typeface="Roboto"/>
              </a:rPr>
              <a:t>Media Upload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65520" y="3246120"/>
            <a:ext cx="262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rPr sz="1200" b="0" i="0">
                <a:solidFill>
                  <a:srgbClr val="374151"/>
                </a:solidFill>
                <a:latin typeface="Roboto"/>
              </a:rPr>
              <a:t>Signage Android App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794760"/>
            <a:ext cx="26212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 i="0">
                <a:solidFill>
                  <a:srgbClr val="374151"/>
                </a:solidFill>
                <a:latin typeface="Roboto"/>
              </a:rPr>
              <a:t>Eyenet Vision  |  Functionalities Presentation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760720"/>
            <a:ext cx="262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Digital Signage 01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61360" y="3794760"/>
            <a:ext cx="26212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61360" y="5760720"/>
            <a:ext cx="262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Signage Android App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65520" y="3794760"/>
            <a:ext cx="26212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65520" y="5760720"/>
            <a:ext cx="262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Soft Camera 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999999"/>
                </a:solidFill>
              </a:defRPr>
            </a:pPr>
            <a:r>
              <a:t>Eyenet Vision  |  Technology Retail Pitch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2538"/>
            <a:ext cx="2438400" cy="1421204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800" y="1552538"/>
            <a:ext cx="2438400" cy="1421204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6960" y="1552538"/>
            <a:ext cx="2438400" cy="1421204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067138"/>
            <a:ext cx="2438400" cy="1421204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2800" y="4229100"/>
            <a:ext cx="2438400" cy="1097280"/>
          </a:xfrm>
          <a:prstGeom prst="rect">
            <a:avLst/>
          </a:prstGeom>
        </p:spPr>
      </p:pic>
      <p:pic>
        <p:nvPicPr>
          <p:cNvPr id="28" name="Picture 27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74967" y="3886200"/>
            <a:ext cx="802385" cy="17830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